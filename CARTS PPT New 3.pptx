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lexandria Bold" charset="1" panose="00000000000000000000"/>
      <p:regular r:id="rId19"/>
    </p:embeddedFont>
    <p:embeddedFont>
      <p:font typeface="Times New Roman Bold" charset="1" panose="02030802070405020303"/>
      <p:regular r:id="rId20"/>
    </p:embeddedFont>
    <p:embeddedFont>
      <p:font typeface="Arimo" charset="1" panose="020B0604020202020204"/>
      <p:regular r:id="rId22"/>
    </p:embeddedFont>
    <p:embeddedFont>
      <p:font typeface="Arimo Bold" charset="1" panose="020B0704020202020204"/>
      <p:regular r:id="rId24"/>
    </p:embeddedFont>
    <p:embeddedFont>
      <p:font typeface="Alexandria Light"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fonts/font28.fntdata" Type="http://schemas.openxmlformats.org/officeDocument/2006/relationships/font"/><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www.kaggle.com/datasets/irfanasrullah/groceries" TargetMode="External" Type="http://schemas.openxmlformats.org/officeDocument/2006/relationships/hyperlink"/><Relationship Id="rId4" Target="https://www.geeksforgeeks.org/machine-learning/apriori-algorithm/" TargetMode="External" Type="http://schemas.openxmlformats.org/officeDocument/2006/relationships/hyperlink"/><Relationship Id="rId5" Target="https://www.geeksforgeeks.org/machine-learning/what-are-recommender-systems/" TargetMode="External" Type="http://schemas.openxmlformats.org/officeDocument/2006/relationships/hyperlink"/><Relationship Id="rId6" Target="../media/image10.png" Type="http://schemas.openxmlformats.org/officeDocument/2006/relationships/image"/><Relationship Id="rId7"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F323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6455421"/>
          </a:xfrm>
          <a:custGeom>
            <a:avLst/>
            <a:gdLst/>
            <a:ahLst/>
            <a:cxnLst/>
            <a:rect r="r" b="b" t="t" l="l"/>
            <a:pathLst>
              <a:path h="6455421" w="18288000">
                <a:moveTo>
                  <a:pt x="0" y="0"/>
                </a:moveTo>
                <a:lnTo>
                  <a:pt x="18288000" y="0"/>
                </a:lnTo>
                <a:lnTo>
                  <a:pt x="18288000" y="6455421"/>
                </a:lnTo>
                <a:lnTo>
                  <a:pt x="0" y="6455421"/>
                </a:lnTo>
                <a:lnTo>
                  <a:pt x="0" y="0"/>
                </a:lnTo>
                <a:close/>
              </a:path>
            </a:pathLst>
          </a:custGeom>
          <a:blipFill>
            <a:blip r:embed="rId3"/>
            <a:stretch>
              <a:fillRect l="-5646" t="-10057" r="0" b="-30984"/>
            </a:stretch>
          </a:blipFill>
        </p:spPr>
      </p:sp>
      <p:sp>
        <p:nvSpPr>
          <p:cNvPr name="Freeform 3" id="3"/>
          <p:cNvSpPr/>
          <p:nvPr/>
        </p:nvSpPr>
        <p:spPr>
          <a:xfrm flipH="false" flipV="false" rot="0">
            <a:off x="4377324" y="67255"/>
            <a:ext cx="9156623" cy="1922891"/>
          </a:xfrm>
          <a:custGeom>
            <a:avLst/>
            <a:gdLst/>
            <a:ahLst/>
            <a:cxnLst/>
            <a:rect r="r" b="b" t="t" l="l"/>
            <a:pathLst>
              <a:path h="1922891" w="9156623">
                <a:moveTo>
                  <a:pt x="0" y="0"/>
                </a:moveTo>
                <a:lnTo>
                  <a:pt x="9156623" y="0"/>
                </a:lnTo>
                <a:lnTo>
                  <a:pt x="9156623" y="1922890"/>
                </a:lnTo>
                <a:lnTo>
                  <a:pt x="0" y="1922890"/>
                </a:lnTo>
                <a:lnTo>
                  <a:pt x="0" y="0"/>
                </a:lnTo>
                <a:close/>
              </a:path>
            </a:pathLst>
          </a:custGeom>
          <a:blipFill>
            <a:blip r:embed="rId4"/>
            <a:stretch>
              <a:fillRect l="0" t="0" r="0" b="0"/>
            </a:stretch>
          </a:blipFill>
        </p:spPr>
      </p:sp>
      <p:sp>
        <p:nvSpPr>
          <p:cNvPr name="Freeform 4" id="4"/>
          <p:cNvSpPr/>
          <p:nvPr/>
        </p:nvSpPr>
        <p:spPr>
          <a:xfrm flipH="false" flipV="false" rot="0">
            <a:off x="16528781" y="0"/>
            <a:ext cx="1759219" cy="883384"/>
          </a:xfrm>
          <a:custGeom>
            <a:avLst/>
            <a:gdLst/>
            <a:ahLst/>
            <a:cxnLst/>
            <a:rect r="r" b="b" t="t" l="l"/>
            <a:pathLst>
              <a:path h="883384" w="1759219">
                <a:moveTo>
                  <a:pt x="0" y="0"/>
                </a:moveTo>
                <a:lnTo>
                  <a:pt x="1759219" y="0"/>
                </a:lnTo>
                <a:lnTo>
                  <a:pt x="1759219" y="883384"/>
                </a:lnTo>
                <a:lnTo>
                  <a:pt x="0" y="883384"/>
                </a:lnTo>
                <a:lnTo>
                  <a:pt x="0" y="0"/>
                </a:lnTo>
                <a:close/>
              </a:path>
            </a:pathLst>
          </a:custGeom>
          <a:blipFill>
            <a:blip r:embed="rId5"/>
            <a:stretch>
              <a:fillRect l="0" t="0" r="0" b="0"/>
            </a:stretch>
          </a:blipFill>
        </p:spPr>
      </p:sp>
      <p:grpSp>
        <p:nvGrpSpPr>
          <p:cNvPr name="Group 5" id="5"/>
          <p:cNvGrpSpPr/>
          <p:nvPr/>
        </p:nvGrpSpPr>
        <p:grpSpPr>
          <a:xfrm rot="0">
            <a:off x="5371194" y="6798321"/>
            <a:ext cx="9423436" cy="2987093"/>
            <a:chOff x="0" y="0"/>
            <a:chExt cx="12564581" cy="3982790"/>
          </a:xfrm>
        </p:grpSpPr>
        <p:sp>
          <p:nvSpPr>
            <p:cNvPr name="TextBox 6" id="6"/>
            <p:cNvSpPr txBox="true"/>
            <p:nvPr/>
          </p:nvSpPr>
          <p:spPr>
            <a:xfrm rot="0">
              <a:off x="195464" y="-9525"/>
              <a:ext cx="12369117" cy="2470697"/>
            </a:xfrm>
            <a:prstGeom prst="rect">
              <a:avLst/>
            </a:prstGeom>
          </p:spPr>
          <p:txBody>
            <a:bodyPr anchor="t" rtlCol="false" tIns="0" lIns="0" bIns="0" rIns="0">
              <a:spAutoFit/>
            </a:bodyPr>
            <a:lstStyle/>
            <a:p>
              <a:pPr algn="l">
                <a:lnSpc>
                  <a:spcPts val="3689"/>
                </a:lnSpc>
              </a:pPr>
              <a:r>
                <a:rPr lang="en-US" sz="2937" b="true">
                  <a:solidFill>
                    <a:srgbClr val="FFFFFF"/>
                  </a:solidFill>
                  <a:latin typeface="Alexandria Bold"/>
                  <a:ea typeface="Alexandria Bold"/>
                  <a:cs typeface="Alexandria Bold"/>
                  <a:sym typeface="Alexandria Bold"/>
                </a:rPr>
                <a:t>Group : </a:t>
              </a:r>
            </a:p>
            <a:p>
              <a:pPr algn="l">
                <a:lnSpc>
                  <a:spcPts val="3689"/>
                </a:lnSpc>
              </a:pPr>
              <a:r>
                <a:rPr lang="en-US" sz="2937" b="true">
                  <a:solidFill>
                    <a:srgbClr val="FFFFFF"/>
                  </a:solidFill>
                  <a:latin typeface="Alexandria Bold"/>
                  <a:ea typeface="Alexandria Bold"/>
                  <a:cs typeface="Alexandria Bold"/>
                  <a:sym typeface="Alexandria Bold"/>
                </a:rPr>
                <a:t>Akshat Shah - 2201031000159</a:t>
              </a:r>
            </a:p>
            <a:p>
              <a:pPr algn="l">
                <a:lnSpc>
                  <a:spcPts val="3689"/>
                </a:lnSpc>
              </a:pPr>
              <a:r>
                <a:rPr lang="en-US" sz="2937" b="true">
                  <a:solidFill>
                    <a:srgbClr val="FFFFFF"/>
                  </a:solidFill>
                  <a:latin typeface="Alexandria Bold"/>
                  <a:ea typeface="Alexandria Bold"/>
                  <a:cs typeface="Alexandria Bold"/>
                  <a:sym typeface="Alexandria Bold"/>
                </a:rPr>
                <a:t>Yash Dalsaniya - 2201031000160</a:t>
              </a:r>
            </a:p>
            <a:p>
              <a:pPr algn="l">
                <a:lnSpc>
                  <a:spcPts val="3690"/>
                </a:lnSpc>
                <a:spcBef>
                  <a:spcPct val="0"/>
                </a:spcBef>
              </a:pPr>
              <a:r>
                <a:rPr lang="en-US" b="true" sz="2937">
                  <a:solidFill>
                    <a:srgbClr val="FFFFFF"/>
                  </a:solidFill>
                  <a:latin typeface="Alexandria Bold"/>
                  <a:ea typeface="Alexandria Bold"/>
                  <a:cs typeface="Alexandria Bold"/>
                  <a:sym typeface="Alexandria Bold"/>
                </a:rPr>
                <a:t>Meet Sharma - 2201031000175</a:t>
              </a:r>
            </a:p>
          </p:txBody>
        </p:sp>
        <p:sp>
          <p:nvSpPr>
            <p:cNvPr name="TextBox 7" id="7"/>
            <p:cNvSpPr txBox="true"/>
            <p:nvPr/>
          </p:nvSpPr>
          <p:spPr>
            <a:xfrm rot="0">
              <a:off x="0" y="3418336"/>
              <a:ext cx="7622184" cy="564455"/>
            </a:xfrm>
            <a:prstGeom prst="rect">
              <a:avLst/>
            </a:prstGeom>
          </p:spPr>
          <p:txBody>
            <a:bodyPr anchor="t" rtlCol="false" tIns="0" lIns="0" bIns="0" rIns="0">
              <a:spAutoFit/>
            </a:bodyPr>
            <a:lstStyle/>
            <a:p>
              <a:pPr algn="ctr">
                <a:lnSpc>
                  <a:spcPts val="3439"/>
                </a:lnSpc>
                <a:spcBef>
                  <a:spcPct val="0"/>
                </a:spcBef>
              </a:pPr>
              <a:r>
                <a:rPr lang="en-US" b="true" sz="2737">
                  <a:solidFill>
                    <a:srgbClr val="FFFAFA"/>
                  </a:solidFill>
                  <a:latin typeface="Alexandria Bold"/>
                  <a:ea typeface="Alexandria Bold"/>
                  <a:cs typeface="Alexandria Bold"/>
                  <a:sym typeface="Alexandria Bold"/>
                </a:rPr>
                <a:t> </a:t>
              </a:r>
              <a:r>
                <a:rPr lang="en-US" b="true" sz="2737">
                  <a:solidFill>
                    <a:srgbClr val="FFFAFA"/>
                  </a:solidFill>
                  <a:latin typeface="Alexandria Bold"/>
                  <a:ea typeface="Alexandria Bold"/>
                  <a:cs typeface="Alexandria Bold"/>
                  <a:sym typeface="Alexandria Bold"/>
                </a:rPr>
                <a:t>Guide Name : Prof. Purvi Patel</a:t>
              </a:r>
            </a:p>
          </p:txBody>
        </p:sp>
        <p:sp>
          <p:nvSpPr>
            <p:cNvPr name="TextBox 8" id="8"/>
            <p:cNvSpPr txBox="true"/>
            <p:nvPr/>
          </p:nvSpPr>
          <p:spPr>
            <a:xfrm rot="0">
              <a:off x="90734" y="2654847"/>
              <a:ext cx="8466547" cy="579339"/>
            </a:xfrm>
            <a:prstGeom prst="rect">
              <a:avLst/>
            </a:prstGeom>
          </p:spPr>
          <p:txBody>
            <a:bodyPr anchor="t" rtlCol="false" tIns="0" lIns="0" bIns="0" rIns="0">
              <a:spAutoFit/>
            </a:bodyPr>
            <a:lstStyle/>
            <a:p>
              <a:pPr algn="ctr">
                <a:lnSpc>
                  <a:spcPts val="3565"/>
                </a:lnSpc>
                <a:spcBef>
                  <a:spcPct val="0"/>
                </a:spcBef>
              </a:pPr>
              <a:r>
                <a:rPr lang="en-US" b="true" sz="2837">
                  <a:solidFill>
                    <a:srgbClr val="FFFAFA"/>
                  </a:solidFill>
                  <a:latin typeface="Alexandria Bold"/>
                  <a:ea typeface="Alexandria Bold"/>
                  <a:cs typeface="Alexandria Bold"/>
                  <a:sym typeface="Alexandria Bold"/>
                </a:rPr>
                <a:t> </a:t>
              </a:r>
              <a:r>
                <a:rPr lang="en-US" b="true" sz="2837">
                  <a:solidFill>
                    <a:srgbClr val="FFFAFA"/>
                  </a:solidFill>
                  <a:latin typeface="Alexandria Bold"/>
                  <a:ea typeface="Alexandria Bold"/>
                  <a:cs typeface="Alexandria Bold"/>
                  <a:sym typeface="Alexandria Bold"/>
                </a:rPr>
                <a:t>Branch : Information Technology </a:t>
              </a:r>
            </a:p>
          </p:txBody>
        </p:sp>
      </p:grpSp>
      <p:sp>
        <p:nvSpPr>
          <p:cNvPr name="TextBox 9" id="9"/>
          <p:cNvSpPr txBox="true"/>
          <p:nvPr/>
        </p:nvSpPr>
        <p:spPr>
          <a:xfrm rot="0">
            <a:off x="560749" y="4750747"/>
            <a:ext cx="17166501" cy="1257310"/>
          </a:xfrm>
          <a:prstGeom prst="rect">
            <a:avLst/>
          </a:prstGeom>
        </p:spPr>
        <p:txBody>
          <a:bodyPr anchor="t" rtlCol="false" tIns="0" lIns="0" bIns="0" rIns="0">
            <a:spAutoFit/>
          </a:bodyPr>
          <a:lstStyle/>
          <a:p>
            <a:pPr algn="ctr">
              <a:lnSpc>
                <a:spcPts val="5023"/>
              </a:lnSpc>
              <a:spcBef>
                <a:spcPct val="0"/>
              </a:spcBef>
            </a:pPr>
            <a:r>
              <a:rPr lang="en-US" b="true" sz="3999">
                <a:solidFill>
                  <a:srgbClr val="8F3232"/>
                </a:solidFill>
                <a:latin typeface="Alexandria Bold"/>
                <a:ea typeface="Alexandria Bold"/>
                <a:cs typeface="Alexandria Bold"/>
                <a:sym typeface="Alexandria Bold"/>
              </a:rPr>
              <a:t>C</a:t>
            </a:r>
            <a:r>
              <a:rPr lang="en-US" b="true" sz="3999">
                <a:solidFill>
                  <a:srgbClr val="8F3232"/>
                </a:solidFill>
                <a:latin typeface="Alexandria Bold"/>
                <a:ea typeface="Alexandria Bold"/>
                <a:cs typeface="Alexandria Bold"/>
                <a:sym typeface="Alexandria Bold"/>
              </a:rPr>
              <a:t>ontextual Awareness Recommendation and Transaction System</a:t>
            </a:r>
          </a:p>
          <a:p>
            <a:pPr algn="ctr">
              <a:lnSpc>
                <a:spcPts val="5025"/>
              </a:lnSpc>
              <a:spcBef>
                <a:spcPct val="0"/>
              </a:spcBef>
            </a:pPr>
          </a:p>
        </p:txBody>
      </p:sp>
      <p:sp>
        <p:nvSpPr>
          <p:cNvPr name="TextBox 10" id="10"/>
          <p:cNvSpPr txBox="true"/>
          <p:nvPr/>
        </p:nvSpPr>
        <p:spPr>
          <a:xfrm rot="0">
            <a:off x="4754053" y="2570591"/>
            <a:ext cx="8779894" cy="1856306"/>
          </a:xfrm>
          <a:prstGeom prst="rect">
            <a:avLst/>
          </a:prstGeom>
        </p:spPr>
        <p:txBody>
          <a:bodyPr anchor="t" rtlCol="false" tIns="0" lIns="0" bIns="0" rIns="0">
            <a:spAutoFit/>
          </a:bodyPr>
          <a:lstStyle/>
          <a:p>
            <a:pPr algn="ctr">
              <a:lnSpc>
                <a:spcPts val="6907"/>
              </a:lnSpc>
            </a:pPr>
            <a:r>
              <a:rPr lang="en-US" sz="5499" b="true">
                <a:solidFill>
                  <a:srgbClr val="8F3232"/>
                </a:solidFill>
                <a:latin typeface="Times New Roman Bold"/>
                <a:ea typeface="Times New Roman Bold"/>
                <a:cs typeface="Times New Roman Bold"/>
                <a:sym typeface="Times New Roman Bold"/>
              </a:rPr>
              <a:t>Minor Project</a:t>
            </a:r>
          </a:p>
          <a:p>
            <a:pPr algn="ctr">
              <a:lnSpc>
                <a:spcPts val="6907"/>
              </a:lnSpc>
              <a:spcBef>
                <a:spcPct val="0"/>
              </a:spcBef>
            </a:pPr>
            <a:r>
              <a:rPr lang="en-US" b="true" sz="5499">
                <a:solidFill>
                  <a:srgbClr val="8F3232"/>
                </a:solidFill>
                <a:latin typeface="Times New Roman Bold"/>
                <a:ea typeface="Times New Roman Bold"/>
                <a:cs typeface="Times New Roman Bold"/>
                <a:sym typeface="Times New Roman Bold"/>
              </a:rPr>
              <a:t>1010103494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585026" y="1990788"/>
            <a:ext cx="3117949" cy="399157"/>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Introduction</a:t>
            </a:r>
          </a:p>
        </p:txBody>
      </p:sp>
      <p:sp>
        <p:nvSpPr>
          <p:cNvPr name="TextBox 7" id="7"/>
          <p:cNvSpPr txBox="true"/>
          <p:nvPr/>
        </p:nvSpPr>
        <p:spPr>
          <a:xfrm rot="0">
            <a:off x="1838025" y="3095792"/>
            <a:ext cx="14611950" cy="1062064"/>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Navigating the Deluge of Choices</a:t>
            </a:r>
          </a:p>
        </p:txBody>
      </p:sp>
      <p:sp>
        <p:nvSpPr>
          <p:cNvPr name="TextBox 8" id="8"/>
          <p:cNvSpPr txBox="true"/>
          <p:nvPr/>
        </p:nvSpPr>
        <p:spPr>
          <a:xfrm rot="0">
            <a:off x="947886" y="4806554"/>
            <a:ext cx="16392228" cy="161151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In today's retail and e-commerce landscape, an overwhelming volume of transaction data is generated daily. While this data offers immense potential, it also presents significant challenges for both consumers and businesses. Customers frequently experience "choice overload," making it difficult to select relevant products from a vast inventory. Simultaneously, businesses often rely on traditional recommendation systems that, while useful, are typically limited to basic metrics like purchase frequency or collaborative filtering.</a:t>
            </a:r>
          </a:p>
        </p:txBody>
      </p:sp>
      <p:sp>
        <p:nvSpPr>
          <p:cNvPr name="TextBox 9" id="9"/>
          <p:cNvSpPr txBox="true"/>
          <p:nvPr/>
        </p:nvSpPr>
        <p:spPr>
          <a:xfrm rot="0">
            <a:off x="947886" y="6589365"/>
            <a:ext cx="16392228" cy="853380"/>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CARTS aims to revolutionize this approach by providing smarter, context-aware recommendations that integrate not just purchasing patterns, but also crucial profitability measures.</a:t>
            </a:r>
          </a:p>
        </p:txBody>
      </p:sp>
      <p:sp>
        <p:nvSpPr>
          <p:cNvPr name="Freeform 10" id="10"/>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6941864" y="1181992"/>
            <a:ext cx="4404271" cy="399158"/>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Background and Motivation</a:t>
            </a:r>
          </a:p>
        </p:txBody>
      </p:sp>
      <p:sp>
        <p:nvSpPr>
          <p:cNvPr name="TextBox 7" id="7"/>
          <p:cNvSpPr txBox="true"/>
          <p:nvPr/>
        </p:nvSpPr>
        <p:spPr>
          <a:xfrm rot="0">
            <a:off x="2592582" y="2299009"/>
            <a:ext cx="13894032" cy="1062064"/>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Beyond "People Also Bought"</a:t>
            </a:r>
          </a:p>
        </p:txBody>
      </p:sp>
      <p:sp>
        <p:nvSpPr>
          <p:cNvPr name="TextBox 8" id="8"/>
          <p:cNvSpPr txBox="true"/>
          <p:nvPr/>
        </p:nvSpPr>
        <p:spPr>
          <a:xfrm rot="0">
            <a:off x="947886" y="4021782"/>
            <a:ext cx="16392228" cy="853380"/>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Traditional recommendation systems, exemplified by Amazon's "people also bought" feature, predominantly rely on historical co-purchase data. While effective in identifying popular product associations, these systems possess significant limitations:</a:t>
            </a:r>
          </a:p>
        </p:txBody>
      </p:sp>
      <p:sp>
        <p:nvSpPr>
          <p:cNvPr name="TextBox 9" id="9"/>
          <p:cNvSpPr txBox="true"/>
          <p:nvPr/>
        </p:nvSpPr>
        <p:spPr>
          <a:xfrm rot="0">
            <a:off x="947886" y="5046464"/>
            <a:ext cx="16392228" cy="474315"/>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Profit Blindness:</a:t>
            </a:r>
            <a:r>
              <a:rPr lang="en-US" sz="1812">
                <a:solidFill>
                  <a:srgbClr val="3B3535"/>
                </a:solidFill>
                <a:latin typeface="Arimo"/>
                <a:ea typeface="Arimo"/>
                <a:cs typeface="Arimo"/>
                <a:sym typeface="Arimo"/>
              </a:rPr>
              <a:t> They do not consider the inherent profit margins of individual items.</a:t>
            </a:r>
          </a:p>
        </p:txBody>
      </p:sp>
      <p:sp>
        <p:nvSpPr>
          <p:cNvPr name="TextBox 10" id="10"/>
          <p:cNvSpPr txBox="true"/>
          <p:nvPr/>
        </p:nvSpPr>
        <p:spPr>
          <a:xfrm rot="0">
            <a:off x="947886" y="5508426"/>
            <a:ext cx="16392228" cy="474315"/>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Equal Treatment:</a:t>
            </a:r>
            <a:r>
              <a:rPr lang="en-US" sz="1812">
                <a:solidFill>
                  <a:srgbClr val="3B3535"/>
                </a:solidFill>
                <a:latin typeface="Arimo"/>
                <a:ea typeface="Arimo"/>
                <a:cs typeface="Arimo"/>
                <a:sym typeface="Arimo"/>
              </a:rPr>
              <a:t> All products are treated as equally valuable, irrespective of their actual business contribution.</a:t>
            </a:r>
          </a:p>
        </p:txBody>
      </p:sp>
      <p:sp>
        <p:nvSpPr>
          <p:cNvPr name="TextBox 11" id="11"/>
          <p:cNvSpPr txBox="true"/>
          <p:nvPr/>
        </p:nvSpPr>
        <p:spPr>
          <a:xfrm rot="0">
            <a:off x="947886" y="5970389"/>
            <a:ext cx="16392228" cy="853380"/>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Unbalanced Objectives:</a:t>
            </a:r>
            <a:r>
              <a:rPr lang="en-US" sz="1812">
                <a:solidFill>
                  <a:srgbClr val="3B3535"/>
                </a:solidFill>
                <a:latin typeface="Arimo"/>
                <a:ea typeface="Arimo"/>
                <a:cs typeface="Arimo"/>
                <a:sym typeface="Arimo"/>
              </a:rPr>
              <a:t> They often fall short in balancing customer satisfaction with critical business objectives like profit maximization.</a:t>
            </a:r>
          </a:p>
        </p:txBody>
      </p:sp>
      <p:sp>
        <p:nvSpPr>
          <p:cNvPr name="TextBox 12" id="12"/>
          <p:cNvSpPr txBox="true"/>
          <p:nvPr/>
        </p:nvSpPr>
        <p:spPr>
          <a:xfrm rot="0">
            <a:off x="947886" y="6995071"/>
            <a:ext cx="16392228" cy="1232446"/>
          </a:xfrm>
          <a:prstGeom prst="rect">
            <a:avLst/>
          </a:prstGeom>
        </p:spPr>
        <p:txBody>
          <a:bodyPr anchor="t" rtlCol="false" tIns="0" lIns="0" bIns="0" rIns="0">
            <a:spAutoFit/>
          </a:bodyPr>
          <a:lstStyle/>
          <a:p>
            <a:pPr algn="l">
              <a:lnSpc>
                <a:spcPts val="2937"/>
              </a:lnSpc>
            </a:pPr>
            <a:r>
              <a:rPr lang="en-US" sz="1812" b="true">
                <a:solidFill>
                  <a:srgbClr val="3B3535"/>
                </a:solidFill>
                <a:latin typeface="Arimo Bold"/>
                <a:ea typeface="Arimo Bold"/>
                <a:cs typeface="Arimo Bold"/>
                <a:sym typeface="Arimo Bold"/>
              </a:rPr>
              <a:t>Motivation:</a:t>
            </a:r>
            <a:r>
              <a:rPr lang="en-US" sz="1812">
                <a:solidFill>
                  <a:srgbClr val="3B3535"/>
                </a:solidFill>
                <a:latin typeface="Arimo"/>
                <a:ea typeface="Arimo"/>
                <a:cs typeface="Arimo"/>
                <a:sym typeface="Arimo"/>
              </a:rPr>
              <a:t> Retailers urgently need a system that can both maximize profits and maintain recommendation relevance. By incorporating detailed metrics such as cost price, selling price, profit percentage, and margin, CARTS can move beyond mere frequency to suggest high-value products that drive significant business growth.</a:t>
            </a:r>
          </a:p>
        </p:txBody>
      </p:sp>
      <p:sp>
        <p:nvSpPr>
          <p:cNvPr name="Freeform 13" id="13"/>
          <p:cNvSpPr/>
          <p:nvPr/>
        </p:nvSpPr>
        <p:spPr>
          <a:xfrm flipH="false" flipV="false" rot="0">
            <a:off x="14971998" y="30516"/>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6268194" y="1587847"/>
            <a:ext cx="6249591" cy="373089"/>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Relevance and Importance</a:t>
            </a:r>
          </a:p>
        </p:txBody>
      </p:sp>
      <p:grpSp>
        <p:nvGrpSpPr>
          <p:cNvPr name="Group 7" id="7"/>
          <p:cNvGrpSpPr/>
          <p:nvPr/>
        </p:nvGrpSpPr>
        <p:grpSpPr>
          <a:xfrm rot="0">
            <a:off x="933599" y="3284785"/>
            <a:ext cx="5334595" cy="4580930"/>
            <a:chOff x="0" y="0"/>
            <a:chExt cx="7112793" cy="6107907"/>
          </a:xfrm>
        </p:grpSpPr>
        <p:sp>
          <p:nvSpPr>
            <p:cNvPr name="Freeform 8" id="8"/>
            <p:cNvSpPr/>
            <p:nvPr/>
          </p:nvSpPr>
          <p:spPr>
            <a:xfrm flipH="false" flipV="false" rot="0">
              <a:off x="19050" y="19050"/>
              <a:ext cx="7074789" cy="6069838"/>
            </a:xfrm>
            <a:custGeom>
              <a:avLst/>
              <a:gdLst/>
              <a:ahLst/>
              <a:cxnLst/>
              <a:rect r="r" b="b" t="t" l="l"/>
              <a:pathLst>
                <a:path h="6069838" w="7074789">
                  <a:moveTo>
                    <a:pt x="0" y="132715"/>
                  </a:moveTo>
                  <a:cubicBezTo>
                    <a:pt x="0" y="59436"/>
                    <a:pt x="59436" y="0"/>
                    <a:pt x="132842" y="0"/>
                  </a:cubicBezTo>
                  <a:lnTo>
                    <a:pt x="6941947" y="0"/>
                  </a:lnTo>
                  <a:cubicBezTo>
                    <a:pt x="7015353" y="0"/>
                    <a:pt x="7074789" y="59436"/>
                    <a:pt x="7074789" y="132715"/>
                  </a:cubicBezTo>
                  <a:lnTo>
                    <a:pt x="7074789" y="5937123"/>
                  </a:lnTo>
                  <a:cubicBezTo>
                    <a:pt x="7074789" y="6010402"/>
                    <a:pt x="7015353" y="6069838"/>
                    <a:pt x="6941947" y="6069838"/>
                  </a:cubicBezTo>
                  <a:lnTo>
                    <a:pt x="132842" y="6069838"/>
                  </a:lnTo>
                  <a:cubicBezTo>
                    <a:pt x="59436" y="6069838"/>
                    <a:pt x="0" y="6010402"/>
                    <a:pt x="0" y="5937123"/>
                  </a:cubicBezTo>
                  <a:close/>
                </a:path>
              </a:pathLst>
            </a:custGeom>
            <a:solidFill>
              <a:srgbClr val="FFFAFA"/>
            </a:solidFill>
          </p:spPr>
        </p:sp>
        <p:sp>
          <p:nvSpPr>
            <p:cNvPr name="Freeform 9" id="9"/>
            <p:cNvSpPr/>
            <p:nvPr/>
          </p:nvSpPr>
          <p:spPr>
            <a:xfrm flipH="false" flipV="false" rot="0">
              <a:off x="0" y="0"/>
              <a:ext cx="7112889" cy="6107938"/>
            </a:xfrm>
            <a:custGeom>
              <a:avLst/>
              <a:gdLst/>
              <a:ahLst/>
              <a:cxnLst/>
              <a:rect r="r" b="b" t="t" l="l"/>
              <a:pathLst>
                <a:path h="6107938" w="7112889">
                  <a:moveTo>
                    <a:pt x="0" y="151765"/>
                  </a:moveTo>
                  <a:cubicBezTo>
                    <a:pt x="0" y="67945"/>
                    <a:pt x="67945" y="0"/>
                    <a:pt x="151892" y="0"/>
                  </a:cubicBezTo>
                  <a:lnTo>
                    <a:pt x="6960997" y="0"/>
                  </a:lnTo>
                  <a:lnTo>
                    <a:pt x="6960997" y="19050"/>
                  </a:lnTo>
                  <a:lnTo>
                    <a:pt x="6960997" y="0"/>
                  </a:lnTo>
                  <a:cubicBezTo>
                    <a:pt x="7044817" y="0"/>
                    <a:pt x="7112889" y="67945"/>
                    <a:pt x="7112889" y="151765"/>
                  </a:cubicBezTo>
                  <a:lnTo>
                    <a:pt x="7093839" y="151765"/>
                  </a:lnTo>
                  <a:lnTo>
                    <a:pt x="7112889" y="151765"/>
                  </a:lnTo>
                  <a:lnTo>
                    <a:pt x="7112889" y="5956173"/>
                  </a:lnTo>
                  <a:lnTo>
                    <a:pt x="7093839" y="5956173"/>
                  </a:lnTo>
                  <a:lnTo>
                    <a:pt x="7112889" y="5956173"/>
                  </a:lnTo>
                  <a:cubicBezTo>
                    <a:pt x="7112889" y="6039993"/>
                    <a:pt x="7044944" y="6107938"/>
                    <a:pt x="6960997" y="6107938"/>
                  </a:cubicBezTo>
                  <a:lnTo>
                    <a:pt x="6960997" y="6088888"/>
                  </a:lnTo>
                  <a:lnTo>
                    <a:pt x="6960997" y="6107938"/>
                  </a:lnTo>
                  <a:lnTo>
                    <a:pt x="151892" y="6107938"/>
                  </a:lnTo>
                  <a:lnTo>
                    <a:pt x="151892" y="6088888"/>
                  </a:lnTo>
                  <a:lnTo>
                    <a:pt x="151892" y="6107938"/>
                  </a:lnTo>
                  <a:cubicBezTo>
                    <a:pt x="67945" y="6107938"/>
                    <a:pt x="0" y="6039993"/>
                    <a:pt x="0" y="5956173"/>
                  </a:cubicBezTo>
                  <a:lnTo>
                    <a:pt x="0" y="151765"/>
                  </a:lnTo>
                  <a:lnTo>
                    <a:pt x="19050" y="151765"/>
                  </a:lnTo>
                  <a:lnTo>
                    <a:pt x="0" y="151765"/>
                  </a:lnTo>
                  <a:moveTo>
                    <a:pt x="38100" y="151765"/>
                  </a:moveTo>
                  <a:lnTo>
                    <a:pt x="38100" y="5956173"/>
                  </a:lnTo>
                  <a:lnTo>
                    <a:pt x="19050" y="5956173"/>
                  </a:lnTo>
                  <a:lnTo>
                    <a:pt x="38100" y="5956173"/>
                  </a:lnTo>
                  <a:cubicBezTo>
                    <a:pt x="38100" y="6018911"/>
                    <a:pt x="89027" y="6069838"/>
                    <a:pt x="151892" y="6069838"/>
                  </a:cubicBezTo>
                  <a:lnTo>
                    <a:pt x="6960997" y="6069838"/>
                  </a:lnTo>
                  <a:cubicBezTo>
                    <a:pt x="7023862" y="6069838"/>
                    <a:pt x="7074789" y="6018911"/>
                    <a:pt x="7074789" y="5956173"/>
                  </a:cubicBezTo>
                  <a:lnTo>
                    <a:pt x="7074789" y="151765"/>
                  </a:lnTo>
                  <a:cubicBezTo>
                    <a:pt x="7074789" y="89027"/>
                    <a:pt x="7023862" y="38100"/>
                    <a:pt x="6960997" y="38100"/>
                  </a:cubicBezTo>
                  <a:lnTo>
                    <a:pt x="151892" y="38100"/>
                  </a:lnTo>
                  <a:lnTo>
                    <a:pt x="151892" y="19050"/>
                  </a:lnTo>
                  <a:lnTo>
                    <a:pt x="151892" y="38100"/>
                  </a:lnTo>
                  <a:cubicBezTo>
                    <a:pt x="89027" y="38100"/>
                    <a:pt x="38100" y="89027"/>
                    <a:pt x="38100" y="151765"/>
                  </a:cubicBezTo>
                  <a:close/>
                </a:path>
              </a:pathLst>
            </a:custGeom>
            <a:solidFill>
              <a:srgbClr val="BBC2DC"/>
            </a:solidFill>
          </p:spPr>
        </p:sp>
      </p:grpSp>
      <p:grpSp>
        <p:nvGrpSpPr>
          <p:cNvPr name="Group 10" id="10"/>
          <p:cNvGrpSpPr/>
          <p:nvPr/>
        </p:nvGrpSpPr>
        <p:grpSpPr>
          <a:xfrm rot="0">
            <a:off x="947886" y="3299072"/>
            <a:ext cx="114300" cy="4552355"/>
            <a:chOff x="0" y="0"/>
            <a:chExt cx="152400" cy="6069807"/>
          </a:xfrm>
        </p:grpSpPr>
        <p:sp>
          <p:nvSpPr>
            <p:cNvPr name="Freeform 11" id="11"/>
            <p:cNvSpPr/>
            <p:nvPr/>
          </p:nvSpPr>
          <p:spPr>
            <a:xfrm flipH="false" flipV="false" rot="0">
              <a:off x="0" y="0"/>
              <a:ext cx="152400" cy="6069838"/>
            </a:xfrm>
            <a:custGeom>
              <a:avLst/>
              <a:gdLst/>
              <a:ahLst/>
              <a:cxnLst/>
              <a:rect r="r" b="b" t="t" l="l"/>
              <a:pathLst>
                <a:path h="6069838" w="152400">
                  <a:moveTo>
                    <a:pt x="0" y="76200"/>
                  </a:moveTo>
                  <a:cubicBezTo>
                    <a:pt x="0" y="34163"/>
                    <a:pt x="34163" y="0"/>
                    <a:pt x="76200" y="0"/>
                  </a:cubicBezTo>
                  <a:cubicBezTo>
                    <a:pt x="118237" y="0"/>
                    <a:pt x="152400" y="34163"/>
                    <a:pt x="152400" y="76200"/>
                  </a:cubicBezTo>
                  <a:lnTo>
                    <a:pt x="152400" y="5993638"/>
                  </a:lnTo>
                  <a:cubicBezTo>
                    <a:pt x="152400" y="6035675"/>
                    <a:pt x="118237" y="6069838"/>
                    <a:pt x="76200" y="6069838"/>
                  </a:cubicBezTo>
                  <a:cubicBezTo>
                    <a:pt x="34163" y="6069838"/>
                    <a:pt x="0" y="6035675"/>
                    <a:pt x="0" y="5993638"/>
                  </a:cubicBezTo>
                  <a:close/>
                </a:path>
              </a:pathLst>
            </a:custGeom>
            <a:solidFill>
              <a:srgbClr val="1A2D7A"/>
            </a:solidFill>
          </p:spPr>
        </p:sp>
      </p:grpSp>
      <p:sp>
        <p:nvSpPr>
          <p:cNvPr name="TextBox 12" id="12"/>
          <p:cNvSpPr txBox="true"/>
          <p:nvPr/>
        </p:nvSpPr>
        <p:spPr>
          <a:xfrm rot="0">
            <a:off x="1327696" y="3555057"/>
            <a:ext cx="3741687" cy="477143"/>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Broad Relevance</a:t>
            </a:r>
          </a:p>
        </p:txBody>
      </p:sp>
      <p:sp>
        <p:nvSpPr>
          <p:cNvPr name="TextBox 13" id="13"/>
          <p:cNvSpPr txBox="true"/>
          <p:nvPr/>
        </p:nvSpPr>
        <p:spPr>
          <a:xfrm rot="0">
            <a:off x="1327696" y="4079081"/>
            <a:ext cx="4660701" cy="274870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CARTS is invaluable for a wide array of businesses, from supermarkets and large retail chains to dynamic e-commerce platforms. It empowers them to implement superior cross-selling strategies, directly leading to higher revenue generation.</a:t>
            </a:r>
          </a:p>
        </p:txBody>
      </p:sp>
      <p:grpSp>
        <p:nvGrpSpPr>
          <p:cNvPr name="Group 14" id="14"/>
          <p:cNvGrpSpPr/>
          <p:nvPr/>
        </p:nvGrpSpPr>
        <p:grpSpPr>
          <a:xfrm rot="0">
            <a:off x="6476554" y="3284785"/>
            <a:ext cx="5334744" cy="4580930"/>
            <a:chOff x="0" y="0"/>
            <a:chExt cx="7112992" cy="6107907"/>
          </a:xfrm>
        </p:grpSpPr>
        <p:sp>
          <p:nvSpPr>
            <p:cNvPr name="Freeform 15" id="15"/>
            <p:cNvSpPr/>
            <p:nvPr/>
          </p:nvSpPr>
          <p:spPr>
            <a:xfrm flipH="false" flipV="false" rot="0">
              <a:off x="19050" y="19050"/>
              <a:ext cx="7074916" cy="6069838"/>
            </a:xfrm>
            <a:custGeom>
              <a:avLst/>
              <a:gdLst/>
              <a:ahLst/>
              <a:cxnLst/>
              <a:rect r="r" b="b" t="t" l="l"/>
              <a:pathLst>
                <a:path h="6069838" w="7074916">
                  <a:moveTo>
                    <a:pt x="0" y="132715"/>
                  </a:moveTo>
                  <a:cubicBezTo>
                    <a:pt x="0" y="59436"/>
                    <a:pt x="59436" y="0"/>
                    <a:pt x="132842" y="0"/>
                  </a:cubicBezTo>
                  <a:lnTo>
                    <a:pt x="6942074" y="0"/>
                  </a:lnTo>
                  <a:cubicBezTo>
                    <a:pt x="7015480" y="0"/>
                    <a:pt x="7074916" y="59436"/>
                    <a:pt x="7074916" y="132715"/>
                  </a:cubicBezTo>
                  <a:lnTo>
                    <a:pt x="7074916" y="5937123"/>
                  </a:lnTo>
                  <a:cubicBezTo>
                    <a:pt x="7074916" y="6010402"/>
                    <a:pt x="7015480" y="6069838"/>
                    <a:pt x="6942074" y="6069838"/>
                  </a:cubicBezTo>
                  <a:lnTo>
                    <a:pt x="132842" y="6069838"/>
                  </a:lnTo>
                  <a:cubicBezTo>
                    <a:pt x="59436" y="6069838"/>
                    <a:pt x="0" y="6010402"/>
                    <a:pt x="0" y="5937123"/>
                  </a:cubicBezTo>
                  <a:close/>
                </a:path>
              </a:pathLst>
            </a:custGeom>
            <a:solidFill>
              <a:srgbClr val="FFFAFA"/>
            </a:solidFill>
          </p:spPr>
        </p:sp>
        <p:sp>
          <p:nvSpPr>
            <p:cNvPr name="Freeform 16" id="16"/>
            <p:cNvSpPr/>
            <p:nvPr/>
          </p:nvSpPr>
          <p:spPr>
            <a:xfrm flipH="false" flipV="false" rot="0">
              <a:off x="0" y="0"/>
              <a:ext cx="7113016" cy="6107938"/>
            </a:xfrm>
            <a:custGeom>
              <a:avLst/>
              <a:gdLst/>
              <a:ahLst/>
              <a:cxnLst/>
              <a:rect r="r" b="b" t="t" l="l"/>
              <a:pathLst>
                <a:path h="6107938" w="7113016">
                  <a:moveTo>
                    <a:pt x="0" y="151765"/>
                  </a:moveTo>
                  <a:cubicBezTo>
                    <a:pt x="0" y="67945"/>
                    <a:pt x="67945" y="0"/>
                    <a:pt x="151892" y="0"/>
                  </a:cubicBezTo>
                  <a:lnTo>
                    <a:pt x="6961124" y="0"/>
                  </a:lnTo>
                  <a:lnTo>
                    <a:pt x="6961124" y="19050"/>
                  </a:lnTo>
                  <a:lnTo>
                    <a:pt x="6961124" y="0"/>
                  </a:lnTo>
                  <a:cubicBezTo>
                    <a:pt x="7044944" y="0"/>
                    <a:pt x="7113016" y="67945"/>
                    <a:pt x="7113016" y="151765"/>
                  </a:cubicBezTo>
                  <a:lnTo>
                    <a:pt x="7093966" y="151765"/>
                  </a:lnTo>
                  <a:lnTo>
                    <a:pt x="7113016" y="151765"/>
                  </a:lnTo>
                  <a:lnTo>
                    <a:pt x="7113016" y="5956173"/>
                  </a:lnTo>
                  <a:lnTo>
                    <a:pt x="7093966" y="5956173"/>
                  </a:lnTo>
                  <a:lnTo>
                    <a:pt x="7113016" y="5956173"/>
                  </a:lnTo>
                  <a:cubicBezTo>
                    <a:pt x="7113016" y="6039993"/>
                    <a:pt x="7045071" y="6107938"/>
                    <a:pt x="6961124" y="6107938"/>
                  </a:cubicBezTo>
                  <a:lnTo>
                    <a:pt x="6961124" y="6088888"/>
                  </a:lnTo>
                  <a:lnTo>
                    <a:pt x="6961124" y="6107938"/>
                  </a:lnTo>
                  <a:lnTo>
                    <a:pt x="151892" y="6107938"/>
                  </a:lnTo>
                  <a:lnTo>
                    <a:pt x="151892" y="6088888"/>
                  </a:lnTo>
                  <a:lnTo>
                    <a:pt x="151892" y="6107938"/>
                  </a:lnTo>
                  <a:cubicBezTo>
                    <a:pt x="67945" y="6107938"/>
                    <a:pt x="0" y="6039993"/>
                    <a:pt x="0" y="5956173"/>
                  </a:cubicBezTo>
                  <a:lnTo>
                    <a:pt x="0" y="151765"/>
                  </a:lnTo>
                  <a:lnTo>
                    <a:pt x="19050" y="151765"/>
                  </a:lnTo>
                  <a:lnTo>
                    <a:pt x="0" y="151765"/>
                  </a:lnTo>
                  <a:moveTo>
                    <a:pt x="38100" y="151765"/>
                  </a:moveTo>
                  <a:lnTo>
                    <a:pt x="38100" y="5956173"/>
                  </a:lnTo>
                  <a:lnTo>
                    <a:pt x="19050" y="5956173"/>
                  </a:lnTo>
                  <a:lnTo>
                    <a:pt x="38100" y="5956173"/>
                  </a:lnTo>
                  <a:cubicBezTo>
                    <a:pt x="38100" y="6018911"/>
                    <a:pt x="89027" y="6069838"/>
                    <a:pt x="151892" y="6069838"/>
                  </a:cubicBezTo>
                  <a:lnTo>
                    <a:pt x="6961124" y="6069838"/>
                  </a:lnTo>
                  <a:cubicBezTo>
                    <a:pt x="7023989" y="6069838"/>
                    <a:pt x="7074916" y="6018911"/>
                    <a:pt x="7074916" y="5956173"/>
                  </a:cubicBezTo>
                  <a:lnTo>
                    <a:pt x="7074916" y="151765"/>
                  </a:lnTo>
                  <a:cubicBezTo>
                    <a:pt x="7074916" y="89027"/>
                    <a:pt x="7023989" y="38100"/>
                    <a:pt x="6961124" y="38100"/>
                  </a:cubicBezTo>
                  <a:lnTo>
                    <a:pt x="151892" y="38100"/>
                  </a:lnTo>
                  <a:lnTo>
                    <a:pt x="151892" y="19050"/>
                  </a:lnTo>
                  <a:lnTo>
                    <a:pt x="151892" y="38100"/>
                  </a:lnTo>
                  <a:cubicBezTo>
                    <a:pt x="89027" y="38100"/>
                    <a:pt x="38100" y="89027"/>
                    <a:pt x="38100" y="151765"/>
                  </a:cubicBezTo>
                  <a:close/>
                </a:path>
              </a:pathLst>
            </a:custGeom>
            <a:solidFill>
              <a:srgbClr val="BBC2DC"/>
            </a:solidFill>
          </p:spPr>
        </p:sp>
      </p:grpSp>
      <p:grpSp>
        <p:nvGrpSpPr>
          <p:cNvPr name="Group 17" id="17"/>
          <p:cNvGrpSpPr/>
          <p:nvPr/>
        </p:nvGrpSpPr>
        <p:grpSpPr>
          <a:xfrm rot="0">
            <a:off x="6490841" y="3299072"/>
            <a:ext cx="114300" cy="4552355"/>
            <a:chOff x="0" y="0"/>
            <a:chExt cx="152400" cy="6069807"/>
          </a:xfrm>
        </p:grpSpPr>
        <p:sp>
          <p:nvSpPr>
            <p:cNvPr name="Freeform 18" id="18"/>
            <p:cNvSpPr/>
            <p:nvPr/>
          </p:nvSpPr>
          <p:spPr>
            <a:xfrm flipH="false" flipV="false" rot="0">
              <a:off x="0" y="0"/>
              <a:ext cx="152400" cy="6069838"/>
            </a:xfrm>
            <a:custGeom>
              <a:avLst/>
              <a:gdLst/>
              <a:ahLst/>
              <a:cxnLst/>
              <a:rect r="r" b="b" t="t" l="l"/>
              <a:pathLst>
                <a:path h="6069838" w="152400">
                  <a:moveTo>
                    <a:pt x="0" y="76200"/>
                  </a:moveTo>
                  <a:cubicBezTo>
                    <a:pt x="0" y="34163"/>
                    <a:pt x="34163" y="0"/>
                    <a:pt x="76200" y="0"/>
                  </a:cubicBezTo>
                  <a:cubicBezTo>
                    <a:pt x="118237" y="0"/>
                    <a:pt x="152400" y="34163"/>
                    <a:pt x="152400" y="76200"/>
                  </a:cubicBezTo>
                  <a:lnTo>
                    <a:pt x="152400" y="5993638"/>
                  </a:lnTo>
                  <a:cubicBezTo>
                    <a:pt x="152400" y="6035675"/>
                    <a:pt x="118237" y="6069838"/>
                    <a:pt x="76200" y="6069838"/>
                  </a:cubicBezTo>
                  <a:cubicBezTo>
                    <a:pt x="34163" y="6069838"/>
                    <a:pt x="0" y="6035675"/>
                    <a:pt x="0" y="5993638"/>
                  </a:cubicBezTo>
                  <a:close/>
                </a:path>
              </a:pathLst>
            </a:custGeom>
            <a:solidFill>
              <a:srgbClr val="1A2D7A"/>
            </a:solidFill>
          </p:spPr>
        </p:sp>
      </p:grpSp>
      <p:sp>
        <p:nvSpPr>
          <p:cNvPr name="TextBox 19" id="19"/>
          <p:cNvSpPr txBox="true"/>
          <p:nvPr/>
        </p:nvSpPr>
        <p:spPr>
          <a:xfrm rot="0">
            <a:off x="6870650" y="3555057"/>
            <a:ext cx="4388496" cy="454025"/>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Strategic Importance</a:t>
            </a:r>
          </a:p>
        </p:txBody>
      </p:sp>
      <p:sp>
        <p:nvSpPr>
          <p:cNvPr name="TextBox 20" id="20"/>
          <p:cNvSpPr txBox="true"/>
          <p:nvPr/>
        </p:nvSpPr>
        <p:spPr>
          <a:xfrm rot="0">
            <a:off x="6870650" y="4079081"/>
            <a:ext cx="4660850" cy="3506837"/>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CARTS introduces a crucial new dimension to recommendation systems: </a:t>
            </a:r>
            <a:r>
              <a:rPr lang="en-US" sz="1812">
                <a:solidFill>
                  <a:srgbClr val="1A2D7A"/>
                </a:solidFill>
                <a:latin typeface="Arimo"/>
                <a:ea typeface="Arimo"/>
                <a:cs typeface="Arimo"/>
                <a:sym typeface="Arimo"/>
              </a:rPr>
              <a:t>profitability awareness</a:t>
            </a:r>
            <a:r>
              <a:rPr lang="en-US" sz="1812">
                <a:solidFill>
                  <a:srgbClr val="3B3535"/>
                </a:solidFill>
                <a:latin typeface="Arimo"/>
                <a:ea typeface="Arimo"/>
                <a:cs typeface="Arimo"/>
                <a:sym typeface="Arimo"/>
              </a:rPr>
              <a:t>. This capability not only helps optimize inventory by focusing on high-turnover, high-margin items but also ensures customers receive truly personalized and meaningful suggestions.</a:t>
            </a:r>
          </a:p>
        </p:txBody>
      </p:sp>
      <p:grpSp>
        <p:nvGrpSpPr>
          <p:cNvPr name="Group 21" id="21"/>
          <p:cNvGrpSpPr/>
          <p:nvPr/>
        </p:nvGrpSpPr>
        <p:grpSpPr>
          <a:xfrm rot="0">
            <a:off x="12019658" y="3284785"/>
            <a:ext cx="5334595" cy="4580930"/>
            <a:chOff x="0" y="0"/>
            <a:chExt cx="7112793" cy="6107907"/>
          </a:xfrm>
        </p:grpSpPr>
        <p:sp>
          <p:nvSpPr>
            <p:cNvPr name="Freeform 22" id="22"/>
            <p:cNvSpPr/>
            <p:nvPr/>
          </p:nvSpPr>
          <p:spPr>
            <a:xfrm flipH="false" flipV="false" rot="0">
              <a:off x="19050" y="19050"/>
              <a:ext cx="7074789" cy="6069838"/>
            </a:xfrm>
            <a:custGeom>
              <a:avLst/>
              <a:gdLst/>
              <a:ahLst/>
              <a:cxnLst/>
              <a:rect r="r" b="b" t="t" l="l"/>
              <a:pathLst>
                <a:path h="6069838" w="7074789">
                  <a:moveTo>
                    <a:pt x="0" y="132715"/>
                  </a:moveTo>
                  <a:cubicBezTo>
                    <a:pt x="0" y="59436"/>
                    <a:pt x="59436" y="0"/>
                    <a:pt x="132842" y="0"/>
                  </a:cubicBezTo>
                  <a:lnTo>
                    <a:pt x="6941947" y="0"/>
                  </a:lnTo>
                  <a:cubicBezTo>
                    <a:pt x="7015353" y="0"/>
                    <a:pt x="7074789" y="59436"/>
                    <a:pt x="7074789" y="132715"/>
                  </a:cubicBezTo>
                  <a:lnTo>
                    <a:pt x="7074789" y="5937123"/>
                  </a:lnTo>
                  <a:cubicBezTo>
                    <a:pt x="7074789" y="6010402"/>
                    <a:pt x="7015353" y="6069838"/>
                    <a:pt x="6941947" y="6069838"/>
                  </a:cubicBezTo>
                  <a:lnTo>
                    <a:pt x="132842" y="6069838"/>
                  </a:lnTo>
                  <a:cubicBezTo>
                    <a:pt x="59436" y="6069838"/>
                    <a:pt x="0" y="6010402"/>
                    <a:pt x="0" y="5937123"/>
                  </a:cubicBezTo>
                  <a:close/>
                </a:path>
              </a:pathLst>
            </a:custGeom>
            <a:solidFill>
              <a:srgbClr val="FFFAFA"/>
            </a:solidFill>
          </p:spPr>
        </p:sp>
        <p:sp>
          <p:nvSpPr>
            <p:cNvPr name="Freeform 23" id="23"/>
            <p:cNvSpPr/>
            <p:nvPr/>
          </p:nvSpPr>
          <p:spPr>
            <a:xfrm flipH="false" flipV="false" rot="0">
              <a:off x="0" y="0"/>
              <a:ext cx="7112889" cy="6107938"/>
            </a:xfrm>
            <a:custGeom>
              <a:avLst/>
              <a:gdLst/>
              <a:ahLst/>
              <a:cxnLst/>
              <a:rect r="r" b="b" t="t" l="l"/>
              <a:pathLst>
                <a:path h="6107938" w="7112889">
                  <a:moveTo>
                    <a:pt x="0" y="151765"/>
                  </a:moveTo>
                  <a:cubicBezTo>
                    <a:pt x="0" y="67945"/>
                    <a:pt x="67945" y="0"/>
                    <a:pt x="151892" y="0"/>
                  </a:cubicBezTo>
                  <a:lnTo>
                    <a:pt x="6960997" y="0"/>
                  </a:lnTo>
                  <a:lnTo>
                    <a:pt x="6960997" y="19050"/>
                  </a:lnTo>
                  <a:lnTo>
                    <a:pt x="6960997" y="0"/>
                  </a:lnTo>
                  <a:cubicBezTo>
                    <a:pt x="7044817" y="0"/>
                    <a:pt x="7112889" y="67945"/>
                    <a:pt x="7112889" y="151765"/>
                  </a:cubicBezTo>
                  <a:lnTo>
                    <a:pt x="7093839" y="151765"/>
                  </a:lnTo>
                  <a:lnTo>
                    <a:pt x="7112889" y="151765"/>
                  </a:lnTo>
                  <a:lnTo>
                    <a:pt x="7112889" y="5956173"/>
                  </a:lnTo>
                  <a:lnTo>
                    <a:pt x="7093839" y="5956173"/>
                  </a:lnTo>
                  <a:lnTo>
                    <a:pt x="7112889" y="5956173"/>
                  </a:lnTo>
                  <a:cubicBezTo>
                    <a:pt x="7112889" y="6039993"/>
                    <a:pt x="7044944" y="6107938"/>
                    <a:pt x="6960997" y="6107938"/>
                  </a:cubicBezTo>
                  <a:lnTo>
                    <a:pt x="6960997" y="6088888"/>
                  </a:lnTo>
                  <a:lnTo>
                    <a:pt x="6960997" y="6107938"/>
                  </a:lnTo>
                  <a:lnTo>
                    <a:pt x="151892" y="6107938"/>
                  </a:lnTo>
                  <a:lnTo>
                    <a:pt x="151892" y="6088888"/>
                  </a:lnTo>
                  <a:lnTo>
                    <a:pt x="151892" y="6107938"/>
                  </a:lnTo>
                  <a:cubicBezTo>
                    <a:pt x="67945" y="6107938"/>
                    <a:pt x="0" y="6039993"/>
                    <a:pt x="0" y="5956173"/>
                  </a:cubicBezTo>
                  <a:lnTo>
                    <a:pt x="0" y="151765"/>
                  </a:lnTo>
                  <a:lnTo>
                    <a:pt x="19050" y="151765"/>
                  </a:lnTo>
                  <a:lnTo>
                    <a:pt x="0" y="151765"/>
                  </a:lnTo>
                  <a:moveTo>
                    <a:pt x="38100" y="151765"/>
                  </a:moveTo>
                  <a:lnTo>
                    <a:pt x="38100" y="5956173"/>
                  </a:lnTo>
                  <a:lnTo>
                    <a:pt x="19050" y="5956173"/>
                  </a:lnTo>
                  <a:lnTo>
                    <a:pt x="38100" y="5956173"/>
                  </a:lnTo>
                  <a:cubicBezTo>
                    <a:pt x="38100" y="6018911"/>
                    <a:pt x="89027" y="6069838"/>
                    <a:pt x="151892" y="6069838"/>
                  </a:cubicBezTo>
                  <a:lnTo>
                    <a:pt x="6960997" y="6069838"/>
                  </a:lnTo>
                  <a:cubicBezTo>
                    <a:pt x="7023862" y="6069838"/>
                    <a:pt x="7074789" y="6018911"/>
                    <a:pt x="7074789" y="5956173"/>
                  </a:cubicBezTo>
                  <a:lnTo>
                    <a:pt x="7074789" y="151765"/>
                  </a:lnTo>
                  <a:cubicBezTo>
                    <a:pt x="7074789" y="89027"/>
                    <a:pt x="7023862" y="38100"/>
                    <a:pt x="6960997" y="38100"/>
                  </a:cubicBezTo>
                  <a:lnTo>
                    <a:pt x="151892" y="38100"/>
                  </a:lnTo>
                  <a:lnTo>
                    <a:pt x="151892" y="19050"/>
                  </a:lnTo>
                  <a:lnTo>
                    <a:pt x="151892" y="38100"/>
                  </a:lnTo>
                  <a:cubicBezTo>
                    <a:pt x="89027" y="38100"/>
                    <a:pt x="38100" y="89027"/>
                    <a:pt x="38100" y="151765"/>
                  </a:cubicBezTo>
                  <a:close/>
                </a:path>
              </a:pathLst>
            </a:custGeom>
            <a:solidFill>
              <a:srgbClr val="BBC2DC"/>
            </a:solidFill>
          </p:spPr>
        </p:sp>
      </p:grpSp>
      <p:grpSp>
        <p:nvGrpSpPr>
          <p:cNvPr name="Group 24" id="24"/>
          <p:cNvGrpSpPr/>
          <p:nvPr/>
        </p:nvGrpSpPr>
        <p:grpSpPr>
          <a:xfrm rot="0">
            <a:off x="12033945" y="3299072"/>
            <a:ext cx="114300" cy="4552355"/>
            <a:chOff x="0" y="0"/>
            <a:chExt cx="152400" cy="6069807"/>
          </a:xfrm>
        </p:grpSpPr>
        <p:sp>
          <p:nvSpPr>
            <p:cNvPr name="Freeform 25" id="25"/>
            <p:cNvSpPr/>
            <p:nvPr/>
          </p:nvSpPr>
          <p:spPr>
            <a:xfrm flipH="false" flipV="false" rot="0">
              <a:off x="0" y="0"/>
              <a:ext cx="152400" cy="6069838"/>
            </a:xfrm>
            <a:custGeom>
              <a:avLst/>
              <a:gdLst/>
              <a:ahLst/>
              <a:cxnLst/>
              <a:rect r="r" b="b" t="t" l="l"/>
              <a:pathLst>
                <a:path h="6069838" w="152400">
                  <a:moveTo>
                    <a:pt x="0" y="76200"/>
                  </a:moveTo>
                  <a:cubicBezTo>
                    <a:pt x="0" y="34163"/>
                    <a:pt x="34163" y="0"/>
                    <a:pt x="76200" y="0"/>
                  </a:cubicBezTo>
                  <a:cubicBezTo>
                    <a:pt x="118237" y="0"/>
                    <a:pt x="152400" y="34163"/>
                    <a:pt x="152400" y="76200"/>
                  </a:cubicBezTo>
                  <a:lnTo>
                    <a:pt x="152400" y="5993638"/>
                  </a:lnTo>
                  <a:cubicBezTo>
                    <a:pt x="152400" y="6035675"/>
                    <a:pt x="118237" y="6069838"/>
                    <a:pt x="76200" y="6069838"/>
                  </a:cubicBezTo>
                  <a:cubicBezTo>
                    <a:pt x="34163" y="6069838"/>
                    <a:pt x="0" y="6035675"/>
                    <a:pt x="0" y="5993638"/>
                  </a:cubicBezTo>
                  <a:close/>
                </a:path>
              </a:pathLst>
            </a:custGeom>
            <a:solidFill>
              <a:srgbClr val="1A2D7A"/>
            </a:solidFill>
          </p:spPr>
        </p:sp>
      </p:grpSp>
      <p:sp>
        <p:nvSpPr>
          <p:cNvPr name="TextBox 26" id="26"/>
          <p:cNvSpPr txBox="true"/>
          <p:nvPr/>
        </p:nvSpPr>
        <p:spPr>
          <a:xfrm rot="0">
            <a:off x="12413754" y="3555057"/>
            <a:ext cx="3741687" cy="477143"/>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Competitive Edge</a:t>
            </a:r>
          </a:p>
        </p:txBody>
      </p:sp>
      <p:sp>
        <p:nvSpPr>
          <p:cNvPr name="TextBox 27" id="27"/>
          <p:cNvSpPr txBox="true"/>
          <p:nvPr/>
        </p:nvSpPr>
        <p:spPr>
          <a:xfrm rot="0">
            <a:off x="12413754" y="4079081"/>
            <a:ext cx="4660701" cy="274870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In a crowded marketplace, the ability to recommend products that are both desired by the customer and profitable for the business provides a significant competitive advantage. CARTS helps businesses achieve this delicate balance.</a:t>
            </a:r>
          </a:p>
        </p:txBody>
      </p:sp>
      <p:sp>
        <p:nvSpPr>
          <p:cNvPr name="Freeform 28" id="28"/>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052630" y="1309806"/>
            <a:ext cx="4182739" cy="754116"/>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Bridging the Research Gap</a:t>
            </a:r>
          </a:p>
        </p:txBody>
      </p:sp>
      <p:sp>
        <p:nvSpPr>
          <p:cNvPr name="TextBox 7" id="7"/>
          <p:cNvSpPr txBox="true"/>
          <p:nvPr/>
        </p:nvSpPr>
        <p:spPr>
          <a:xfrm rot="0">
            <a:off x="947886" y="2292522"/>
            <a:ext cx="16392228" cy="1062064"/>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Literature Review</a:t>
            </a:r>
          </a:p>
        </p:txBody>
      </p:sp>
      <p:sp>
        <p:nvSpPr>
          <p:cNvPr name="TextBox 8" id="8"/>
          <p:cNvSpPr txBox="true"/>
          <p:nvPr/>
        </p:nvSpPr>
        <p:spPr>
          <a:xfrm rot="0">
            <a:off x="947886" y="4421386"/>
            <a:ext cx="4557564" cy="373089"/>
          </a:xfrm>
          <a:prstGeom prst="rect">
            <a:avLst/>
          </a:prstGeom>
        </p:spPr>
        <p:txBody>
          <a:bodyPr anchor="t" rtlCol="false" tIns="0" lIns="0" bIns="0" rIns="0">
            <a:spAutoFit/>
          </a:bodyPr>
          <a:lstStyle/>
          <a:p>
            <a:pPr algn="l">
              <a:lnSpc>
                <a:spcPts val="3062"/>
              </a:lnSpc>
            </a:pPr>
            <a:r>
              <a:rPr lang="en-US" sz="2437" b="true">
                <a:solidFill>
                  <a:srgbClr val="1F1E1E"/>
                </a:solidFill>
                <a:latin typeface="Alexandria Bold"/>
                <a:ea typeface="Alexandria Bold"/>
                <a:cs typeface="Alexandria Bold"/>
                <a:sym typeface="Alexandria Bold"/>
              </a:rPr>
              <a:t>Existing Approaches:</a:t>
            </a:r>
          </a:p>
        </p:txBody>
      </p:sp>
      <p:sp>
        <p:nvSpPr>
          <p:cNvPr name="TextBox 9" id="9"/>
          <p:cNvSpPr txBox="true"/>
          <p:nvPr/>
        </p:nvSpPr>
        <p:spPr>
          <a:xfrm rot="0">
            <a:off x="947886" y="4962227"/>
            <a:ext cx="7907090" cy="853380"/>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Collaborative Filtering:</a:t>
            </a:r>
            <a:r>
              <a:rPr lang="en-US" sz="1812">
                <a:solidFill>
                  <a:srgbClr val="3B3535"/>
                </a:solidFill>
                <a:latin typeface="Arimo"/>
                <a:ea typeface="Arimo"/>
                <a:cs typeface="Arimo"/>
                <a:sym typeface="Arimo"/>
              </a:rPr>
              <a:t> Relies on user-item similarity but overlooks item-level business attributes like profit.</a:t>
            </a:r>
          </a:p>
        </p:txBody>
      </p:sp>
      <p:sp>
        <p:nvSpPr>
          <p:cNvPr name="TextBox 10" id="10"/>
          <p:cNvSpPr txBox="true"/>
          <p:nvPr/>
        </p:nvSpPr>
        <p:spPr>
          <a:xfrm rot="0">
            <a:off x="947886" y="5803255"/>
            <a:ext cx="7907090" cy="853380"/>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Content-Based Filtering:</a:t>
            </a:r>
            <a:r>
              <a:rPr lang="en-US" sz="1812">
                <a:solidFill>
                  <a:srgbClr val="3B3535"/>
                </a:solidFill>
                <a:latin typeface="Arimo"/>
                <a:ea typeface="Arimo"/>
                <a:cs typeface="Arimo"/>
                <a:sym typeface="Arimo"/>
              </a:rPr>
              <a:t> Focuses on product features but struggles to capture complex transaction-level patterns.</a:t>
            </a:r>
          </a:p>
        </p:txBody>
      </p:sp>
      <p:sp>
        <p:nvSpPr>
          <p:cNvPr name="TextBox 11" id="11"/>
          <p:cNvSpPr txBox="true"/>
          <p:nvPr/>
        </p:nvSpPr>
        <p:spPr>
          <a:xfrm rot="0">
            <a:off x="947886" y="6644282"/>
            <a:ext cx="7907090" cy="1232446"/>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Apriori Algorithm:</a:t>
            </a:r>
            <a:r>
              <a:rPr lang="en-US" sz="1812">
                <a:solidFill>
                  <a:srgbClr val="3B3535"/>
                </a:solidFill>
                <a:latin typeface="Arimo"/>
                <a:ea typeface="Arimo"/>
                <a:cs typeface="Arimo"/>
                <a:sym typeface="Arimo"/>
              </a:rPr>
              <a:t> Effective in finding frequent itemsets, but traditionally applied without consideration for business profitability metrics.</a:t>
            </a:r>
          </a:p>
        </p:txBody>
      </p:sp>
      <p:sp>
        <p:nvSpPr>
          <p:cNvPr name="TextBox 12" id="12"/>
          <p:cNvSpPr txBox="true"/>
          <p:nvPr/>
        </p:nvSpPr>
        <p:spPr>
          <a:xfrm rot="0">
            <a:off x="9442549" y="4421386"/>
            <a:ext cx="3117949" cy="399157"/>
          </a:xfrm>
          <a:prstGeom prst="rect">
            <a:avLst/>
          </a:prstGeom>
        </p:spPr>
        <p:txBody>
          <a:bodyPr anchor="t" rtlCol="false" tIns="0" lIns="0" bIns="0" rIns="0">
            <a:spAutoFit/>
          </a:bodyPr>
          <a:lstStyle/>
          <a:p>
            <a:pPr algn="l">
              <a:lnSpc>
                <a:spcPts val="3062"/>
              </a:lnSpc>
            </a:pPr>
            <a:r>
              <a:rPr lang="en-US" sz="2437" b="true">
                <a:solidFill>
                  <a:srgbClr val="1F1E1E"/>
                </a:solidFill>
                <a:latin typeface="Alexandria Bold"/>
                <a:ea typeface="Alexandria Bold"/>
                <a:cs typeface="Alexandria Bold"/>
                <a:sym typeface="Alexandria Bold"/>
              </a:rPr>
              <a:t>Research Gap:</a:t>
            </a:r>
          </a:p>
        </p:txBody>
      </p:sp>
      <p:sp>
        <p:nvSpPr>
          <p:cNvPr name="TextBox 13" id="13"/>
          <p:cNvSpPr txBox="true"/>
          <p:nvPr/>
        </p:nvSpPr>
        <p:spPr>
          <a:xfrm rot="0">
            <a:off x="9797951" y="4991844"/>
            <a:ext cx="7551687"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Most current systems heavily prioritize </a:t>
            </a:r>
            <a:r>
              <a:rPr lang="en-US" sz="1812" b="true">
                <a:solidFill>
                  <a:srgbClr val="3B3535"/>
                </a:solidFill>
                <a:latin typeface="Arimo Bold"/>
                <a:ea typeface="Arimo Bold"/>
                <a:cs typeface="Arimo Bold"/>
                <a:sym typeface="Arimo Bold"/>
              </a:rPr>
              <a:t>frequency</a:t>
            </a:r>
            <a:r>
              <a:rPr lang="en-US" sz="1812">
                <a:solidFill>
                  <a:srgbClr val="3B3535"/>
                </a:solidFill>
                <a:latin typeface="Arimo"/>
                <a:ea typeface="Arimo"/>
                <a:cs typeface="Arimo"/>
                <a:sym typeface="Arimo"/>
              </a:rPr>
              <a:t> and </a:t>
            </a:r>
            <a:r>
              <a:rPr lang="en-US" sz="1812" b="true">
                <a:solidFill>
                  <a:srgbClr val="3B3535"/>
                </a:solidFill>
                <a:latin typeface="Arimo Bold"/>
                <a:ea typeface="Arimo Bold"/>
                <a:cs typeface="Arimo Bold"/>
                <a:sym typeface="Arimo Bold"/>
              </a:rPr>
              <a:t>support</a:t>
            </a:r>
            <a:r>
              <a:rPr lang="en-US" sz="1812">
                <a:solidFill>
                  <a:srgbClr val="3B3535"/>
                </a:solidFill>
                <a:latin typeface="Arimo"/>
                <a:ea typeface="Arimo"/>
                <a:cs typeface="Arimo"/>
                <a:sym typeface="Arimo"/>
              </a:rPr>
              <a:t> metrics, often completely overlooking the critical aspect of an item's </a:t>
            </a:r>
            <a:r>
              <a:rPr lang="en-US" sz="1812" b="true">
                <a:solidFill>
                  <a:srgbClr val="3B3535"/>
                </a:solidFill>
                <a:latin typeface="Arimo Bold"/>
                <a:ea typeface="Arimo Bold"/>
                <a:cs typeface="Arimo Bold"/>
                <a:sym typeface="Arimo Bold"/>
              </a:rPr>
              <a:t>profit contribution</a:t>
            </a:r>
            <a:r>
              <a:rPr lang="en-US" sz="1812">
                <a:solidFill>
                  <a:srgbClr val="3B3535"/>
                </a:solidFill>
                <a:latin typeface="Arimo"/>
                <a:ea typeface="Arimo"/>
                <a:cs typeface="Arimo"/>
                <a:sym typeface="Arimo"/>
              </a:rPr>
              <a:t>.</a:t>
            </a:r>
          </a:p>
        </p:txBody>
      </p:sp>
      <p:grpSp>
        <p:nvGrpSpPr>
          <p:cNvPr name="Group 14" id="14"/>
          <p:cNvGrpSpPr/>
          <p:nvPr/>
        </p:nvGrpSpPr>
        <p:grpSpPr>
          <a:xfrm rot="0">
            <a:off x="9442549" y="5087094"/>
            <a:ext cx="28575" cy="1137196"/>
            <a:chOff x="0" y="0"/>
            <a:chExt cx="38100" cy="1516262"/>
          </a:xfrm>
        </p:grpSpPr>
        <p:sp>
          <p:nvSpPr>
            <p:cNvPr name="Freeform 15" id="15"/>
            <p:cNvSpPr/>
            <p:nvPr/>
          </p:nvSpPr>
          <p:spPr>
            <a:xfrm flipH="false" flipV="false" rot="0">
              <a:off x="0" y="0"/>
              <a:ext cx="38100" cy="1516253"/>
            </a:xfrm>
            <a:custGeom>
              <a:avLst/>
              <a:gdLst/>
              <a:ahLst/>
              <a:cxnLst/>
              <a:rect r="r" b="b" t="t" l="l"/>
              <a:pathLst>
                <a:path h="1516253" w="38100">
                  <a:moveTo>
                    <a:pt x="0" y="0"/>
                  </a:moveTo>
                  <a:lnTo>
                    <a:pt x="38100" y="0"/>
                  </a:lnTo>
                  <a:lnTo>
                    <a:pt x="38100" y="1516253"/>
                  </a:lnTo>
                  <a:lnTo>
                    <a:pt x="0" y="1516253"/>
                  </a:lnTo>
                  <a:close/>
                </a:path>
              </a:pathLst>
            </a:custGeom>
            <a:solidFill>
              <a:srgbClr val="1A2D7A"/>
            </a:solidFill>
          </p:spPr>
        </p:sp>
      </p:grpSp>
      <p:sp>
        <p:nvSpPr>
          <p:cNvPr name="TextBox 16" id="16"/>
          <p:cNvSpPr txBox="true"/>
          <p:nvPr/>
        </p:nvSpPr>
        <p:spPr>
          <a:xfrm rot="0">
            <a:off x="9442549" y="6481316"/>
            <a:ext cx="3953545" cy="373089"/>
          </a:xfrm>
          <a:prstGeom prst="rect">
            <a:avLst/>
          </a:prstGeom>
        </p:spPr>
        <p:txBody>
          <a:bodyPr anchor="t" rtlCol="false" tIns="0" lIns="0" bIns="0" rIns="0">
            <a:spAutoFit/>
          </a:bodyPr>
          <a:lstStyle/>
          <a:p>
            <a:pPr algn="l">
              <a:lnSpc>
                <a:spcPts val="3062"/>
              </a:lnSpc>
            </a:pPr>
            <a:r>
              <a:rPr lang="en-US" sz="2437" b="true">
                <a:solidFill>
                  <a:srgbClr val="1F1E1E"/>
                </a:solidFill>
                <a:latin typeface="Alexandria Bold"/>
                <a:ea typeface="Alexandria Bold"/>
                <a:cs typeface="Alexandria Bold"/>
                <a:sym typeface="Alexandria Bold"/>
              </a:rPr>
              <a:t>CARTS' Contribution:</a:t>
            </a:r>
          </a:p>
        </p:txBody>
      </p:sp>
      <p:sp>
        <p:nvSpPr>
          <p:cNvPr name="TextBox 17" id="17"/>
          <p:cNvSpPr txBox="true"/>
          <p:nvPr/>
        </p:nvSpPr>
        <p:spPr>
          <a:xfrm rot="0">
            <a:off x="9442549" y="7022158"/>
            <a:ext cx="7907090" cy="199057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CARTS significantly extends the well-established Apriori algorithm by ingeniously integrating </a:t>
            </a:r>
            <a:r>
              <a:rPr lang="en-US" sz="1812">
                <a:solidFill>
                  <a:srgbClr val="1A2D7A"/>
                </a:solidFill>
                <a:latin typeface="Arimo"/>
                <a:ea typeface="Arimo"/>
                <a:cs typeface="Arimo"/>
                <a:sym typeface="Arimo"/>
              </a:rPr>
              <a:t>profit margins, cost, and custom bias weights</a:t>
            </a:r>
            <a:r>
              <a:rPr lang="en-US" sz="1812">
                <a:solidFill>
                  <a:srgbClr val="3B3535"/>
                </a:solidFill>
                <a:latin typeface="Arimo"/>
                <a:ea typeface="Arimo"/>
                <a:cs typeface="Arimo"/>
                <a:sym typeface="Arimo"/>
              </a:rPr>
              <a:t> directly into the recommendation generation process. This ensures that recommendations are not just popular, but also strategically valuable.</a:t>
            </a:r>
          </a:p>
        </p:txBody>
      </p:sp>
      <p:sp>
        <p:nvSpPr>
          <p:cNvPr name="Freeform 18" id="18"/>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6727776" y="1329802"/>
            <a:ext cx="4657130" cy="373089"/>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Core Objectives of CARTS</a:t>
            </a:r>
          </a:p>
        </p:txBody>
      </p:sp>
      <p:sp>
        <p:nvSpPr>
          <p:cNvPr name="TextBox 7" id="7"/>
          <p:cNvSpPr txBox="true"/>
          <p:nvPr/>
        </p:nvSpPr>
        <p:spPr>
          <a:xfrm rot="0">
            <a:off x="982415" y="2379166"/>
            <a:ext cx="385762" cy="350877"/>
          </a:xfrm>
          <a:prstGeom prst="rect">
            <a:avLst/>
          </a:prstGeom>
        </p:spPr>
        <p:txBody>
          <a:bodyPr anchor="t" rtlCol="false" tIns="0" lIns="0" bIns="0" rIns="0">
            <a:spAutoFit/>
          </a:bodyPr>
          <a:lstStyle/>
          <a:p>
            <a:pPr algn="l">
              <a:lnSpc>
                <a:spcPts val="2937"/>
              </a:lnSpc>
            </a:pPr>
            <a:r>
              <a:rPr lang="en-US" sz="1812">
                <a:solidFill>
                  <a:srgbClr val="3B3535"/>
                </a:solidFill>
                <a:latin typeface="Alexandria Light"/>
                <a:ea typeface="Alexandria Light"/>
                <a:cs typeface="Alexandria Light"/>
                <a:sym typeface="Alexandria Light"/>
              </a:rPr>
              <a:t>01</a:t>
            </a:r>
          </a:p>
        </p:txBody>
      </p:sp>
      <p:grpSp>
        <p:nvGrpSpPr>
          <p:cNvPr name="Group 8" id="8"/>
          <p:cNvGrpSpPr/>
          <p:nvPr/>
        </p:nvGrpSpPr>
        <p:grpSpPr>
          <a:xfrm rot="0">
            <a:off x="947886" y="2829520"/>
            <a:ext cx="5306020" cy="28575"/>
            <a:chOff x="0" y="0"/>
            <a:chExt cx="7074693" cy="38100"/>
          </a:xfrm>
        </p:grpSpPr>
        <p:sp>
          <p:nvSpPr>
            <p:cNvPr name="Freeform 9" id="9"/>
            <p:cNvSpPr/>
            <p:nvPr/>
          </p:nvSpPr>
          <p:spPr>
            <a:xfrm flipH="false" flipV="false" rot="0">
              <a:off x="0" y="0"/>
              <a:ext cx="7074662" cy="38100"/>
            </a:xfrm>
            <a:custGeom>
              <a:avLst/>
              <a:gdLst/>
              <a:ahLst/>
              <a:cxnLst/>
              <a:rect r="r" b="b" t="t" l="l"/>
              <a:pathLst>
                <a:path h="38100" w="7074662">
                  <a:moveTo>
                    <a:pt x="0" y="0"/>
                  </a:moveTo>
                  <a:lnTo>
                    <a:pt x="7074662" y="0"/>
                  </a:lnTo>
                  <a:lnTo>
                    <a:pt x="7074662" y="38100"/>
                  </a:lnTo>
                  <a:lnTo>
                    <a:pt x="0" y="38100"/>
                  </a:lnTo>
                  <a:close/>
                </a:path>
              </a:pathLst>
            </a:custGeom>
            <a:solidFill>
              <a:srgbClr val="1A2D7A"/>
            </a:solidFill>
          </p:spPr>
        </p:sp>
      </p:grpSp>
      <p:sp>
        <p:nvSpPr>
          <p:cNvPr name="TextBox 10" id="10"/>
          <p:cNvSpPr txBox="true"/>
          <p:nvPr/>
        </p:nvSpPr>
        <p:spPr>
          <a:xfrm rot="0">
            <a:off x="947886" y="2995613"/>
            <a:ext cx="5306020" cy="944761"/>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Develop a Balanced Recommendation System</a:t>
            </a:r>
          </a:p>
        </p:txBody>
      </p:sp>
      <p:sp>
        <p:nvSpPr>
          <p:cNvPr name="TextBox 11" id="11"/>
          <p:cNvSpPr txBox="true"/>
          <p:nvPr/>
        </p:nvSpPr>
        <p:spPr>
          <a:xfrm rot="0">
            <a:off x="947886" y="3987254"/>
            <a:ext cx="5306020"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To create a robust system that intelligently balances customer purchasing patterns with critical business profitability goals.</a:t>
            </a:r>
          </a:p>
        </p:txBody>
      </p:sp>
      <p:sp>
        <p:nvSpPr>
          <p:cNvPr name="TextBox 12" id="12"/>
          <p:cNvSpPr txBox="true"/>
          <p:nvPr/>
        </p:nvSpPr>
        <p:spPr>
          <a:xfrm rot="0">
            <a:off x="6490841" y="2379166"/>
            <a:ext cx="503635" cy="350877"/>
          </a:xfrm>
          <a:prstGeom prst="rect">
            <a:avLst/>
          </a:prstGeom>
        </p:spPr>
        <p:txBody>
          <a:bodyPr anchor="t" rtlCol="false" tIns="0" lIns="0" bIns="0" rIns="0">
            <a:spAutoFit/>
          </a:bodyPr>
          <a:lstStyle/>
          <a:p>
            <a:pPr algn="l">
              <a:lnSpc>
                <a:spcPts val="2937"/>
              </a:lnSpc>
            </a:pPr>
            <a:r>
              <a:rPr lang="en-US" sz="1812">
                <a:solidFill>
                  <a:srgbClr val="3B3535"/>
                </a:solidFill>
                <a:latin typeface="Alexandria Light"/>
                <a:ea typeface="Alexandria Light"/>
                <a:cs typeface="Alexandria Light"/>
                <a:sym typeface="Alexandria Light"/>
              </a:rPr>
              <a:t>02</a:t>
            </a:r>
          </a:p>
        </p:txBody>
      </p:sp>
      <p:grpSp>
        <p:nvGrpSpPr>
          <p:cNvPr name="Group 13" id="13"/>
          <p:cNvGrpSpPr/>
          <p:nvPr/>
        </p:nvGrpSpPr>
        <p:grpSpPr>
          <a:xfrm rot="0">
            <a:off x="6490841" y="2829520"/>
            <a:ext cx="5306169" cy="28575"/>
            <a:chOff x="0" y="0"/>
            <a:chExt cx="7074892" cy="38100"/>
          </a:xfrm>
        </p:grpSpPr>
        <p:sp>
          <p:nvSpPr>
            <p:cNvPr name="Freeform 14" id="14"/>
            <p:cNvSpPr/>
            <p:nvPr/>
          </p:nvSpPr>
          <p:spPr>
            <a:xfrm flipH="false" flipV="false" rot="0">
              <a:off x="0" y="0"/>
              <a:ext cx="7074916" cy="38100"/>
            </a:xfrm>
            <a:custGeom>
              <a:avLst/>
              <a:gdLst/>
              <a:ahLst/>
              <a:cxnLst/>
              <a:rect r="r" b="b" t="t" l="l"/>
              <a:pathLst>
                <a:path h="38100" w="7074916">
                  <a:moveTo>
                    <a:pt x="0" y="0"/>
                  </a:moveTo>
                  <a:lnTo>
                    <a:pt x="7074916" y="0"/>
                  </a:lnTo>
                  <a:lnTo>
                    <a:pt x="7074916" y="38100"/>
                  </a:lnTo>
                  <a:lnTo>
                    <a:pt x="0" y="38100"/>
                  </a:lnTo>
                  <a:close/>
                </a:path>
              </a:pathLst>
            </a:custGeom>
            <a:solidFill>
              <a:srgbClr val="1A2D7A"/>
            </a:solidFill>
          </p:spPr>
        </p:sp>
      </p:grpSp>
      <p:sp>
        <p:nvSpPr>
          <p:cNvPr name="TextBox 15" id="15"/>
          <p:cNvSpPr txBox="true"/>
          <p:nvPr/>
        </p:nvSpPr>
        <p:spPr>
          <a:xfrm rot="0">
            <a:off x="6490841" y="2995613"/>
            <a:ext cx="5306169" cy="944761"/>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Compute Item Weights &amp; Biases</a:t>
            </a:r>
          </a:p>
        </p:txBody>
      </p:sp>
      <p:sp>
        <p:nvSpPr>
          <p:cNvPr name="TextBox 16" id="16"/>
          <p:cNvSpPr txBox="true"/>
          <p:nvPr/>
        </p:nvSpPr>
        <p:spPr>
          <a:xfrm rot="0">
            <a:off x="6490841" y="3987254"/>
            <a:ext cx="5306169" cy="161151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To accurately calculate and assign numerical weights and biases to each product, incorporating its Cost Price (CP), Selling Price (SP), Profit Percentage, and Margin.</a:t>
            </a:r>
          </a:p>
        </p:txBody>
      </p:sp>
      <p:sp>
        <p:nvSpPr>
          <p:cNvPr name="TextBox 17" id="17"/>
          <p:cNvSpPr txBox="true"/>
          <p:nvPr/>
        </p:nvSpPr>
        <p:spPr>
          <a:xfrm rot="0">
            <a:off x="12033945" y="2379166"/>
            <a:ext cx="617935" cy="350877"/>
          </a:xfrm>
          <a:prstGeom prst="rect">
            <a:avLst/>
          </a:prstGeom>
        </p:spPr>
        <p:txBody>
          <a:bodyPr anchor="t" rtlCol="false" tIns="0" lIns="0" bIns="0" rIns="0">
            <a:spAutoFit/>
          </a:bodyPr>
          <a:lstStyle/>
          <a:p>
            <a:pPr algn="l">
              <a:lnSpc>
                <a:spcPts val="2937"/>
              </a:lnSpc>
            </a:pPr>
            <a:r>
              <a:rPr lang="en-US" sz="1812">
                <a:solidFill>
                  <a:srgbClr val="3B3535"/>
                </a:solidFill>
                <a:latin typeface="Alexandria Light"/>
                <a:ea typeface="Alexandria Light"/>
                <a:cs typeface="Alexandria Light"/>
                <a:sym typeface="Alexandria Light"/>
              </a:rPr>
              <a:t>03</a:t>
            </a:r>
          </a:p>
        </p:txBody>
      </p:sp>
      <p:grpSp>
        <p:nvGrpSpPr>
          <p:cNvPr name="Group 18" id="18"/>
          <p:cNvGrpSpPr/>
          <p:nvPr/>
        </p:nvGrpSpPr>
        <p:grpSpPr>
          <a:xfrm rot="0">
            <a:off x="12033945" y="2829520"/>
            <a:ext cx="5306020" cy="28575"/>
            <a:chOff x="0" y="0"/>
            <a:chExt cx="7074693" cy="38100"/>
          </a:xfrm>
        </p:grpSpPr>
        <p:sp>
          <p:nvSpPr>
            <p:cNvPr name="Freeform 19" id="19"/>
            <p:cNvSpPr/>
            <p:nvPr/>
          </p:nvSpPr>
          <p:spPr>
            <a:xfrm flipH="false" flipV="false" rot="0">
              <a:off x="0" y="0"/>
              <a:ext cx="7074662" cy="38100"/>
            </a:xfrm>
            <a:custGeom>
              <a:avLst/>
              <a:gdLst/>
              <a:ahLst/>
              <a:cxnLst/>
              <a:rect r="r" b="b" t="t" l="l"/>
              <a:pathLst>
                <a:path h="38100" w="7074662">
                  <a:moveTo>
                    <a:pt x="0" y="0"/>
                  </a:moveTo>
                  <a:lnTo>
                    <a:pt x="7074662" y="0"/>
                  </a:lnTo>
                  <a:lnTo>
                    <a:pt x="7074662" y="38100"/>
                  </a:lnTo>
                  <a:lnTo>
                    <a:pt x="0" y="38100"/>
                  </a:lnTo>
                  <a:close/>
                </a:path>
              </a:pathLst>
            </a:custGeom>
            <a:solidFill>
              <a:srgbClr val="1A2D7A"/>
            </a:solidFill>
          </p:spPr>
        </p:sp>
      </p:grpSp>
      <p:sp>
        <p:nvSpPr>
          <p:cNvPr name="TextBox 20" id="20"/>
          <p:cNvSpPr txBox="true"/>
          <p:nvPr/>
        </p:nvSpPr>
        <p:spPr>
          <a:xfrm rot="0">
            <a:off x="12033945" y="2995613"/>
            <a:ext cx="5306020" cy="944761"/>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Apply Enhanced Apriori Algorithm</a:t>
            </a:r>
          </a:p>
        </p:txBody>
      </p:sp>
      <p:sp>
        <p:nvSpPr>
          <p:cNvPr name="TextBox 21" id="21"/>
          <p:cNvSpPr txBox="true"/>
          <p:nvPr/>
        </p:nvSpPr>
        <p:spPr>
          <a:xfrm rot="0">
            <a:off x="12033945" y="3987254"/>
            <a:ext cx="5306020" cy="161151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To leverage the Apriori Algorithm for identifying strong association rules, seamlessly integrating the newly computed profit-based weights.</a:t>
            </a:r>
          </a:p>
        </p:txBody>
      </p:sp>
      <p:sp>
        <p:nvSpPr>
          <p:cNvPr name="TextBox 22" id="22"/>
          <p:cNvSpPr txBox="true"/>
          <p:nvPr/>
        </p:nvSpPr>
        <p:spPr>
          <a:xfrm rot="0">
            <a:off x="947886" y="5937200"/>
            <a:ext cx="420291" cy="350877"/>
          </a:xfrm>
          <a:prstGeom prst="rect">
            <a:avLst/>
          </a:prstGeom>
        </p:spPr>
        <p:txBody>
          <a:bodyPr anchor="t" rtlCol="false" tIns="0" lIns="0" bIns="0" rIns="0">
            <a:spAutoFit/>
          </a:bodyPr>
          <a:lstStyle/>
          <a:p>
            <a:pPr algn="l">
              <a:lnSpc>
                <a:spcPts val="2937"/>
              </a:lnSpc>
            </a:pPr>
            <a:r>
              <a:rPr lang="en-US" sz="1812">
                <a:solidFill>
                  <a:srgbClr val="3B3535"/>
                </a:solidFill>
                <a:latin typeface="Alexandria Light"/>
                <a:ea typeface="Alexandria Light"/>
                <a:cs typeface="Alexandria Light"/>
                <a:sym typeface="Alexandria Light"/>
              </a:rPr>
              <a:t>04</a:t>
            </a:r>
          </a:p>
        </p:txBody>
      </p:sp>
      <p:grpSp>
        <p:nvGrpSpPr>
          <p:cNvPr name="Group 23" id="23"/>
          <p:cNvGrpSpPr/>
          <p:nvPr/>
        </p:nvGrpSpPr>
        <p:grpSpPr>
          <a:xfrm rot="0">
            <a:off x="947886" y="6387554"/>
            <a:ext cx="8077497" cy="28575"/>
            <a:chOff x="0" y="0"/>
            <a:chExt cx="10769997" cy="38100"/>
          </a:xfrm>
        </p:grpSpPr>
        <p:sp>
          <p:nvSpPr>
            <p:cNvPr name="Freeform 24" id="24"/>
            <p:cNvSpPr/>
            <p:nvPr/>
          </p:nvSpPr>
          <p:spPr>
            <a:xfrm flipH="false" flipV="false" rot="0">
              <a:off x="0" y="0"/>
              <a:ext cx="10769981" cy="38100"/>
            </a:xfrm>
            <a:custGeom>
              <a:avLst/>
              <a:gdLst/>
              <a:ahLst/>
              <a:cxnLst/>
              <a:rect r="r" b="b" t="t" l="l"/>
              <a:pathLst>
                <a:path h="38100" w="10769981">
                  <a:moveTo>
                    <a:pt x="0" y="0"/>
                  </a:moveTo>
                  <a:lnTo>
                    <a:pt x="10769981" y="0"/>
                  </a:lnTo>
                  <a:lnTo>
                    <a:pt x="10769981" y="38100"/>
                  </a:lnTo>
                  <a:lnTo>
                    <a:pt x="0" y="38100"/>
                  </a:lnTo>
                  <a:close/>
                </a:path>
              </a:pathLst>
            </a:custGeom>
            <a:solidFill>
              <a:srgbClr val="1A2D7A"/>
            </a:solidFill>
          </p:spPr>
        </p:sp>
      </p:grpSp>
      <p:sp>
        <p:nvSpPr>
          <p:cNvPr name="TextBox 25" id="25"/>
          <p:cNvSpPr txBox="true"/>
          <p:nvPr/>
        </p:nvSpPr>
        <p:spPr>
          <a:xfrm rot="0">
            <a:off x="947886" y="6553646"/>
            <a:ext cx="6707089" cy="477142"/>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Generate Smart Recommendations</a:t>
            </a:r>
          </a:p>
        </p:txBody>
      </p:sp>
      <p:sp>
        <p:nvSpPr>
          <p:cNvPr name="TextBox 26" id="26"/>
          <p:cNvSpPr txBox="true"/>
          <p:nvPr/>
        </p:nvSpPr>
        <p:spPr>
          <a:xfrm rot="0">
            <a:off x="947886" y="7077670"/>
            <a:ext cx="8077497"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To produce recommendations that are not only frequent and relevant to customer behavior but also strategically valuable and highly profitable for the business.</a:t>
            </a:r>
          </a:p>
        </p:txBody>
      </p:sp>
      <p:sp>
        <p:nvSpPr>
          <p:cNvPr name="TextBox 27" id="27"/>
          <p:cNvSpPr txBox="true"/>
          <p:nvPr/>
        </p:nvSpPr>
        <p:spPr>
          <a:xfrm rot="0">
            <a:off x="9262319" y="5937200"/>
            <a:ext cx="541735" cy="350877"/>
          </a:xfrm>
          <a:prstGeom prst="rect">
            <a:avLst/>
          </a:prstGeom>
        </p:spPr>
        <p:txBody>
          <a:bodyPr anchor="t" rtlCol="false" tIns="0" lIns="0" bIns="0" rIns="0">
            <a:spAutoFit/>
          </a:bodyPr>
          <a:lstStyle/>
          <a:p>
            <a:pPr algn="l">
              <a:lnSpc>
                <a:spcPts val="2937"/>
              </a:lnSpc>
            </a:pPr>
            <a:r>
              <a:rPr lang="en-US" sz="1812">
                <a:solidFill>
                  <a:srgbClr val="3B3535"/>
                </a:solidFill>
                <a:latin typeface="Alexandria Light"/>
                <a:ea typeface="Alexandria Light"/>
                <a:cs typeface="Alexandria Light"/>
                <a:sym typeface="Alexandria Light"/>
              </a:rPr>
              <a:t>05</a:t>
            </a:r>
          </a:p>
        </p:txBody>
      </p:sp>
      <p:grpSp>
        <p:nvGrpSpPr>
          <p:cNvPr name="Group 28" id="28"/>
          <p:cNvGrpSpPr/>
          <p:nvPr/>
        </p:nvGrpSpPr>
        <p:grpSpPr>
          <a:xfrm rot="0">
            <a:off x="9262319" y="6387554"/>
            <a:ext cx="8077646" cy="28575"/>
            <a:chOff x="0" y="0"/>
            <a:chExt cx="10770195" cy="38100"/>
          </a:xfrm>
        </p:grpSpPr>
        <p:sp>
          <p:nvSpPr>
            <p:cNvPr name="Freeform 29" id="29"/>
            <p:cNvSpPr/>
            <p:nvPr/>
          </p:nvSpPr>
          <p:spPr>
            <a:xfrm flipH="false" flipV="false" rot="0">
              <a:off x="0" y="0"/>
              <a:ext cx="10770235" cy="38100"/>
            </a:xfrm>
            <a:custGeom>
              <a:avLst/>
              <a:gdLst/>
              <a:ahLst/>
              <a:cxnLst/>
              <a:rect r="r" b="b" t="t" l="l"/>
              <a:pathLst>
                <a:path h="38100" w="10770235">
                  <a:moveTo>
                    <a:pt x="0" y="0"/>
                  </a:moveTo>
                  <a:lnTo>
                    <a:pt x="10770235" y="0"/>
                  </a:lnTo>
                  <a:lnTo>
                    <a:pt x="10770235" y="38100"/>
                  </a:lnTo>
                  <a:lnTo>
                    <a:pt x="0" y="38100"/>
                  </a:lnTo>
                  <a:close/>
                </a:path>
              </a:pathLst>
            </a:custGeom>
            <a:solidFill>
              <a:srgbClr val="1A2D7A"/>
            </a:solidFill>
          </p:spPr>
        </p:sp>
      </p:grpSp>
      <p:sp>
        <p:nvSpPr>
          <p:cNvPr name="TextBox 30" id="30"/>
          <p:cNvSpPr txBox="true"/>
          <p:nvPr/>
        </p:nvSpPr>
        <p:spPr>
          <a:xfrm rot="0">
            <a:off x="9262319" y="6553646"/>
            <a:ext cx="3741688" cy="477142"/>
          </a:xfrm>
          <a:prstGeom prst="rect">
            <a:avLst/>
          </a:prstGeom>
        </p:spPr>
        <p:txBody>
          <a:bodyPr anchor="t" rtlCol="false" tIns="0" lIns="0" bIns="0" rIns="0">
            <a:spAutoFit/>
          </a:bodyPr>
          <a:lstStyle/>
          <a:p>
            <a:pPr algn="l">
              <a:lnSpc>
                <a:spcPts val="3625"/>
              </a:lnSpc>
            </a:pPr>
            <a:r>
              <a:rPr lang="en-US" sz="2937" b="true">
                <a:solidFill>
                  <a:srgbClr val="3B3535"/>
                </a:solidFill>
                <a:latin typeface="Alexandria Bold"/>
                <a:ea typeface="Alexandria Bold"/>
                <a:cs typeface="Alexandria Bold"/>
                <a:sym typeface="Alexandria Bold"/>
              </a:rPr>
              <a:t>Ensure Scalability</a:t>
            </a:r>
          </a:p>
        </p:txBody>
      </p:sp>
      <p:sp>
        <p:nvSpPr>
          <p:cNvPr name="TextBox 31" id="31"/>
          <p:cNvSpPr txBox="true"/>
          <p:nvPr/>
        </p:nvSpPr>
        <p:spPr>
          <a:xfrm rot="0">
            <a:off x="9262319" y="7077670"/>
            <a:ext cx="8077646" cy="853380"/>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To design a flexible and adaptable framework capable of scaling to large datasets and diverse real-world retail applications.</a:t>
            </a:r>
          </a:p>
        </p:txBody>
      </p:sp>
      <p:sp>
        <p:nvSpPr>
          <p:cNvPr name="Freeform 32" id="32"/>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508825" y="782539"/>
            <a:ext cx="4190108" cy="373089"/>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Tools &amp; Technologies</a:t>
            </a:r>
          </a:p>
        </p:txBody>
      </p:sp>
      <p:sp>
        <p:nvSpPr>
          <p:cNvPr name="TextBox 7" id="7"/>
          <p:cNvSpPr txBox="true"/>
          <p:nvPr/>
        </p:nvSpPr>
        <p:spPr>
          <a:xfrm rot="0">
            <a:off x="4841081" y="1380530"/>
            <a:ext cx="8605838" cy="1113681"/>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Powering CARTS</a:t>
            </a:r>
          </a:p>
        </p:txBody>
      </p:sp>
      <p:grpSp>
        <p:nvGrpSpPr>
          <p:cNvPr name="Group 8" id="8"/>
          <p:cNvGrpSpPr>
            <a:grpSpLocks noChangeAspect="true"/>
          </p:cNvGrpSpPr>
          <p:nvPr/>
        </p:nvGrpSpPr>
        <p:grpSpPr>
          <a:xfrm rot="0">
            <a:off x="947886" y="3351759"/>
            <a:ext cx="4512915" cy="5641032"/>
            <a:chOff x="0" y="0"/>
            <a:chExt cx="6017220" cy="7521377"/>
          </a:xfrm>
        </p:grpSpPr>
        <p:sp>
          <p:nvSpPr>
            <p:cNvPr name="Freeform 9" id="9" descr="preencoded.png"/>
            <p:cNvSpPr/>
            <p:nvPr/>
          </p:nvSpPr>
          <p:spPr>
            <a:xfrm flipH="false" flipV="false" rot="0">
              <a:off x="0" y="0"/>
              <a:ext cx="6017260" cy="7521321"/>
            </a:xfrm>
            <a:custGeom>
              <a:avLst/>
              <a:gdLst/>
              <a:ahLst/>
              <a:cxnLst/>
              <a:rect r="r" b="b" t="t" l="l"/>
              <a:pathLst>
                <a:path h="7521321" w="6017260">
                  <a:moveTo>
                    <a:pt x="0" y="0"/>
                  </a:moveTo>
                  <a:lnTo>
                    <a:pt x="6017260" y="0"/>
                  </a:lnTo>
                  <a:lnTo>
                    <a:pt x="6017260" y="7521321"/>
                  </a:lnTo>
                  <a:lnTo>
                    <a:pt x="0" y="7521321"/>
                  </a:lnTo>
                  <a:lnTo>
                    <a:pt x="0" y="0"/>
                  </a:lnTo>
                  <a:close/>
                </a:path>
              </a:pathLst>
            </a:custGeom>
            <a:blipFill>
              <a:blip r:embed="rId3"/>
              <a:stretch>
                <a:fillRect l="-41" t="0" r="-40" b="0"/>
              </a:stretch>
            </a:blipFill>
          </p:spPr>
        </p:sp>
      </p:grpSp>
      <p:sp>
        <p:nvSpPr>
          <p:cNvPr name="TextBox 10" id="10"/>
          <p:cNvSpPr txBox="true"/>
          <p:nvPr/>
        </p:nvSpPr>
        <p:spPr>
          <a:xfrm rot="0">
            <a:off x="6048375" y="2967632"/>
            <a:ext cx="11301115" cy="853380"/>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Programming Language:</a:t>
            </a:r>
            <a:r>
              <a:rPr lang="en-US" sz="1812">
                <a:solidFill>
                  <a:srgbClr val="3B3535"/>
                </a:solidFill>
                <a:latin typeface="Arimo"/>
                <a:ea typeface="Arimo"/>
                <a:cs typeface="Arimo"/>
                <a:sym typeface="Arimo"/>
              </a:rPr>
              <a:t> Python – Chosen for its extensive libraries and ease of use in data science.</a:t>
            </a:r>
          </a:p>
        </p:txBody>
      </p:sp>
      <p:sp>
        <p:nvSpPr>
          <p:cNvPr name="TextBox 11" id="11"/>
          <p:cNvSpPr txBox="true"/>
          <p:nvPr/>
        </p:nvSpPr>
        <p:spPr>
          <a:xfrm rot="0">
            <a:off x="6048375" y="3808660"/>
            <a:ext cx="11301115" cy="474315"/>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Key Libraries &amp; Packages:</a:t>
            </a:r>
          </a:p>
        </p:txBody>
      </p:sp>
      <p:sp>
        <p:nvSpPr>
          <p:cNvPr name="TextBox 12" id="12"/>
          <p:cNvSpPr txBox="true"/>
          <p:nvPr/>
        </p:nvSpPr>
        <p:spPr>
          <a:xfrm rot="0">
            <a:off x="6048375" y="4270622"/>
            <a:ext cx="11301115" cy="853380"/>
          </a:xfrm>
          <a:prstGeom prst="rect">
            <a:avLst/>
          </a:prstGeom>
        </p:spPr>
        <p:txBody>
          <a:bodyPr anchor="t" rtlCol="false" tIns="0" lIns="0" bIns="0" rIns="0">
            <a:spAutoFit/>
          </a:bodyPr>
          <a:lstStyle/>
          <a:p>
            <a:pPr algn="l" marL="701973" indent="-233991" lvl="2">
              <a:lnSpc>
                <a:spcPts val="2937"/>
              </a:lnSpc>
              <a:buFont typeface="Arial"/>
              <a:buChar char="⚬"/>
            </a:pPr>
            <a:r>
              <a:rPr lang="en-US" b="true" sz="1812">
                <a:solidFill>
                  <a:srgbClr val="3B3535"/>
                </a:solidFill>
                <a:latin typeface="Arimo Bold"/>
                <a:ea typeface="Arimo Bold"/>
                <a:cs typeface="Arimo Bold"/>
                <a:sym typeface="Arimo Bold"/>
              </a:rPr>
              <a:t>Pandas &amp; NumPy:</a:t>
            </a:r>
            <a:r>
              <a:rPr lang="en-US" sz="1812">
                <a:solidFill>
                  <a:srgbClr val="3B3535"/>
                </a:solidFill>
                <a:latin typeface="Arimo"/>
                <a:ea typeface="Arimo"/>
                <a:cs typeface="Arimo"/>
                <a:sym typeface="Arimo"/>
              </a:rPr>
              <a:t> Essential for efficient data preprocessing, manipulation, and numerical calculations.</a:t>
            </a:r>
          </a:p>
        </p:txBody>
      </p:sp>
      <p:sp>
        <p:nvSpPr>
          <p:cNvPr name="TextBox 13" id="13"/>
          <p:cNvSpPr txBox="true"/>
          <p:nvPr/>
        </p:nvSpPr>
        <p:spPr>
          <a:xfrm rot="0">
            <a:off x="6048375" y="5111651"/>
            <a:ext cx="11301115" cy="853380"/>
          </a:xfrm>
          <a:prstGeom prst="rect">
            <a:avLst/>
          </a:prstGeom>
        </p:spPr>
        <p:txBody>
          <a:bodyPr anchor="t" rtlCol="false" tIns="0" lIns="0" bIns="0" rIns="0">
            <a:spAutoFit/>
          </a:bodyPr>
          <a:lstStyle/>
          <a:p>
            <a:pPr algn="l" marL="701973" indent="-233991" lvl="2">
              <a:lnSpc>
                <a:spcPts val="2937"/>
              </a:lnSpc>
              <a:buFont typeface="Arial"/>
              <a:buChar char="⚬"/>
            </a:pPr>
            <a:r>
              <a:rPr lang="en-US" b="true" sz="1812">
                <a:solidFill>
                  <a:srgbClr val="3B3535"/>
                </a:solidFill>
                <a:latin typeface="Arimo Bold"/>
                <a:ea typeface="Arimo Bold"/>
                <a:cs typeface="Arimo Bold"/>
                <a:sym typeface="Arimo Bold"/>
              </a:rPr>
              <a:t>mlxtend:</a:t>
            </a:r>
            <a:r>
              <a:rPr lang="en-US" sz="1812">
                <a:solidFill>
                  <a:srgbClr val="3B3535"/>
                </a:solidFill>
                <a:latin typeface="Arimo"/>
                <a:ea typeface="Arimo"/>
                <a:cs typeface="Arimo"/>
                <a:sym typeface="Arimo"/>
              </a:rPr>
              <a:t> Specifically for implementing the Apriori algorithm and extracting association rules.</a:t>
            </a:r>
          </a:p>
        </p:txBody>
      </p:sp>
      <p:sp>
        <p:nvSpPr>
          <p:cNvPr name="TextBox 14" id="14"/>
          <p:cNvSpPr txBox="true"/>
          <p:nvPr/>
        </p:nvSpPr>
        <p:spPr>
          <a:xfrm rot="0">
            <a:off x="6048375" y="5952679"/>
            <a:ext cx="11301115" cy="853380"/>
          </a:xfrm>
          <a:prstGeom prst="rect">
            <a:avLst/>
          </a:prstGeom>
        </p:spPr>
        <p:txBody>
          <a:bodyPr anchor="t" rtlCol="false" tIns="0" lIns="0" bIns="0" rIns="0">
            <a:spAutoFit/>
          </a:bodyPr>
          <a:lstStyle/>
          <a:p>
            <a:pPr algn="l" marL="701973" indent="-233991" lvl="2">
              <a:lnSpc>
                <a:spcPts val="2937"/>
              </a:lnSpc>
              <a:buFont typeface="Arial"/>
              <a:buChar char="⚬"/>
            </a:pPr>
            <a:r>
              <a:rPr lang="en-US" b="true" sz="1812">
                <a:solidFill>
                  <a:srgbClr val="3B3535"/>
                </a:solidFill>
                <a:latin typeface="Arimo Bold"/>
                <a:ea typeface="Arimo Bold"/>
                <a:cs typeface="Arimo Bold"/>
                <a:sym typeface="Arimo Bold"/>
              </a:rPr>
              <a:t>Matplotlib:</a:t>
            </a:r>
            <a:r>
              <a:rPr lang="en-US" sz="1812">
                <a:solidFill>
                  <a:srgbClr val="3B3535"/>
                </a:solidFill>
                <a:latin typeface="Arimo"/>
                <a:ea typeface="Arimo"/>
                <a:cs typeface="Arimo"/>
                <a:sym typeface="Arimo"/>
              </a:rPr>
              <a:t> For creating clear and insightful data visualizations to understand patterns and results.</a:t>
            </a:r>
          </a:p>
        </p:txBody>
      </p:sp>
      <p:sp>
        <p:nvSpPr>
          <p:cNvPr name="TextBox 15" id="15"/>
          <p:cNvSpPr txBox="true"/>
          <p:nvPr/>
        </p:nvSpPr>
        <p:spPr>
          <a:xfrm rot="0">
            <a:off x="6048375" y="6793706"/>
            <a:ext cx="11301115" cy="474315"/>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Dataset Requirements:</a:t>
            </a:r>
          </a:p>
        </p:txBody>
      </p:sp>
      <p:sp>
        <p:nvSpPr>
          <p:cNvPr name="TextBox 16" id="16"/>
          <p:cNvSpPr txBox="true"/>
          <p:nvPr/>
        </p:nvSpPr>
        <p:spPr>
          <a:xfrm rot="0">
            <a:off x="6048375" y="7255669"/>
            <a:ext cx="11301115" cy="853380"/>
          </a:xfrm>
          <a:prstGeom prst="rect">
            <a:avLst/>
          </a:prstGeom>
        </p:spPr>
        <p:txBody>
          <a:bodyPr anchor="t" rtlCol="false" tIns="0" lIns="0" bIns="0" rIns="0">
            <a:spAutoFit/>
          </a:bodyPr>
          <a:lstStyle/>
          <a:p>
            <a:pPr algn="l" marL="701973" indent="-233991" lvl="2">
              <a:lnSpc>
                <a:spcPts val="2937"/>
              </a:lnSpc>
              <a:buFont typeface="Arial"/>
              <a:buChar char="⚬"/>
            </a:pPr>
            <a:r>
              <a:rPr lang="en-US" b="true" sz="1812">
                <a:solidFill>
                  <a:srgbClr val="3B3535"/>
                </a:solidFill>
                <a:latin typeface="Arimo Bold"/>
                <a:ea typeface="Arimo Bold"/>
                <a:cs typeface="Arimo Bold"/>
                <a:sym typeface="Arimo Bold"/>
              </a:rPr>
              <a:t>Item Dataset:</a:t>
            </a:r>
            <a:r>
              <a:rPr lang="en-US" sz="1812">
                <a:solidFill>
                  <a:srgbClr val="3B3535"/>
                </a:solidFill>
                <a:latin typeface="Arimo"/>
                <a:ea typeface="Arimo"/>
                <a:cs typeface="Arimo"/>
                <a:sym typeface="Arimo"/>
              </a:rPr>
              <a:t> Must include critical attributes like Cost Price (CP), Selling Price (SP), Profit Percentage, and Margin for each product.</a:t>
            </a:r>
          </a:p>
        </p:txBody>
      </p:sp>
      <p:sp>
        <p:nvSpPr>
          <p:cNvPr name="TextBox 17" id="17"/>
          <p:cNvSpPr txBox="true"/>
          <p:nvPr/>
        </p:nvSpPr>
        <p:spPr>
          <a:xfrm rot="0">
            <a:off x="6048375" y="8096696"/>
            <a:ext cx="11301115" cy="853380"/>
          </a:xfrm>
          <a:prstGeom prst="rect">
            <a:avLst/>
          </a:prstGeom>
        </p:spPr>
        <p:txBody>
          <a:bodyPr anchor="t" rtlCol="false" tIns="0" lIns="0" bIns="0" rIns="0">
            <a:spAutoFit/>
          </a:bodyPr>
          <a:lstStyle/>
          <a:p>
            <a:pPr algn="l" marL="701973" indent="-233991" lvl="2">
              <a:lnSpc>
                <a:spcPts val="2937"/>
              </a:lnSpc>
              <a:buFont typeface="Arial"/>
              <a:buChar char="⚬"/>
            </a:pPr>
            <a:r>
              <a:rPr lang="en-US" b="true" sz="1812">
                <a:solidFill>
                  <a:srgbClr val="3B3535"/>
                </a:solidFill>
                <a:latin typeface="Arimo Bold"/>
                <a:ea typeface="Arimo Bold"/>
                <a:cs typeface="Arimo Bold"/>
                <a:sym typeface="Arimo Bold"/>
              </a:rPr>
              <a:t>Transaction Dataset:</a:t>
            </a:r>
            <a:r>
              <a:rPr lang="en-US" sz="1812">
                <a:solidFill>
                  <a:srgbClr val="3B3535"/>
                </a:solidFill>
                <a:latin typeface="Arimo"/>
                <a:ea typeface="Arimo"/>
                <a:cs typeface="Arimo"/>
                <a:sym typeface="Arimo"/>
              </a:rPr>
              <a:t> A substantial collection of at least 1000 transactions, with each containing 2-5 items to ensure sufficient data for pattern recognition.</a:t>
            </a:r>
          </a:p>
        </p:txBody>
      </p:sp>
      <p:sp>
        <p:nvSpPr>
          <p:cNvPr name="TextBox 18" id="18"/>
          <p:cNvSpPr txBox="true"/>
          <p:nvPr/>
        </p:nvSpPr>
        <p:spPr>
          <a:xfrm rot="0">
            <a:off x="6048375" y="8937724"/>
            <a:ext cx="11301115" cy="474315"/>
          </a:xfrm>
          <a:prstGeom prst="rect">
            <a:avLst/>
          </a:prstGeom>
        </p:spPr>
        <p:txBody>
          <a:bodyPr anchor="t" rtlCol="false" tIns="0" lIns="0" bIns="0" rIns="0">
            <a:spAutoFit/>
          </a:bodyPr>
          <a:lstStyle/>
          <a:p>
            <a:pPr algn="l" marL="273348" indent="-136674" lvl="1">
              <a:lnSpc>
                <a:spcPts val="2937"/>
              </a:lnSpc>
              <a:buFont typeface="Arial"/>
              <a:buChar char="•"/>
            </a:pPr>
            <a:r>
              <a:rPr lang="en-US" b="true" sz="1812">
                <a:solidFill>
                  <a:srgbClr val="3B3535"/>
                </a:solidFill>
                <a:latin typeface="Arimo Bold"/>
                <a:ea typeface="Arimo Bold"/>
                <a:cs typeface="Arimo Bold"/>
                <a:sym typeface="Arimo Bold"/>
              </a:rPr>
              <a:t>Development Environment:</a:t>
            </a:r>
            <a:r>
              <a:rPr lang="en-US" sz="1812">
                <a:solidFill>
                  <a:srgbClr val="3B3535"/>
                </a:solidFill>
                <a:latin typeface="Arimo"/>
                <a:ea typeface="Arimo"/>
                <a:cs typeface="Arimo"/>
                <a:sym typeface="Arimo"/>
              </a:rPr>
              <a:t> Google Colab</a:t>
            </a:r>
          </a:p>
        </p:txBody>
      </p:sp>
      <p:sp>
        <p:nvSpPr>
          <p:cNvPr name="Freeform 19" id="19"/>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186092" y="1197495"/>
            <a:ext cx="4332535" cy="373089"/>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Method and Approach</a:t>
            </a:r>
          </a:p>
        </p:txBody>
      </p:sp>
      <p:grpSp>
        <p:nvGrpSpPr>
          <p:cNvPr name="Group 7" id="7"/>
          <p:cNvGrpSpPr/>
          <p:nvPr/>
        </p:nvGrpSpPr>
        <p:grpSpPr>
          <a:xfrm rot="0">
            <a:off x="9129712" y="2037309"/>
            <a:ext cx="28575" cy="7075735"/>
            <a:chOff x="0" y="0"/>
            <a:chExt cx="38100" cy="9434313"/>
          </a:xfrm>
        </p:grpSpPr>
        <p:sp>
          <p:nvSpPr>
            <p:cNvPr name="Freeform 8" id="8"/>
            <p:cNvSpPr/>
            <p:nvPr/>
          </p:nvSpPr>
          <p:spPr>
            <a:xfrm flipH="false" flipV="false" rot="0">
              <a:off x="0" y="0"/>
              <a:ext cx="38100" cy="9434322"/>
            </a:xfrm>
            <a:custGeom>
              <a:avLst/>
              <a:gdLst/>
              <a:ahLst/>
              <a:cxnLst/>
              <a:rect r="r" b="b" t="t" l="l"/>
              <a:pathLst>
                <a:path h="9434322" w="38100">
                  <a:moveTo>
                    <a:pt x="0" y="19050"/>
                  </a:moveTo>
                  <a:cubicBezTo>
                    <a:pt x="0" y="8509"/>
                    <a:pt x="8509" y="0"/>
                    <a:pt x="19050" y="0"/>
                  </a:cubicBezTo>
                  <a:cubicBezTo>
                    <a:pt x="29591" y="0"/>
                    <a:pt x="38100" y="8509"/>
                    <a:pt x="38100" y="19050"/>
                  </a:cubicBezTo>
                  <a:lnTo>
                    <a:pt x="38100" y="9415272"/>
                  </a:lnTo>
                  <a:cubicBezTo>
                    <a:pt x="38100" y="9425813"/>
                    <a:pt x="29591" y="9434322"/>
                    <a:pt x="19050" y="9434322"/>
                  </a:cubicBezTo>
                  <a:cubicBezTo>
                    <a:pt x="8509" y="9434322"/>
                    <a:pt x="0" y="9425813"/>
                    <a:pt x="0" y="9415272"/>
                  </a:cubicBezTo>
                  <a:close/>
                </a:path>
              </a:pathLst>
            </a:custGeom>
            <a:solidFill>
              <a:srgbClr val="BBC2DC"/>
            </a:solidFill>
          </p:spPr>
        </p:sp>
      </p:grpSp>
      <p:grpSp>
        <p:nvGrpSpPr>
          <p:cNvPr name="Group 9" id="9"/>
          <p:cNvGrpSpPr/>
          <p:nvPr/>
        </p:nvGrpSpPr>
        <p:grpSpPr>
          <a:xfrm rot="0">
            <a:off x="8698706" y="2289572"/>
            <a:ext cx="473869" cy="28575"/>
            <a:chOff x="0" y="0"/>
            <a:chExt cx="631825" cy="38100"/>
          </a:xfrm>
        </p:grpSpPr>
        <p:sp>
          <p:nvSpPr>
            <p:cNvPr name="Freeform 10" id="10"/>
            <p:cNvSpPr/>
            <p:nvPr/>
          </p:nvSpPr>
          <p:spPr>
            <a:xfrm flipH="false" flipV="false" rot="0">
              <a:off x="0" y="0"/>
              <a:ext cx="631825" cy="38100"/>
            </a:xfrm>
            <a:custGeom>
              <a:avLst/>
              <a:gdLst/>
              <a:ahLst/>
              <a:cxnLst/>
              <a:rect r="r" b="b" t="t" l="l"/>
              <a:pathLst>
                <a:path h="38100" w="631825">
                  <a:moveTo>
                    <a:pt x="0" y="19050"/>
                  </a:moveTo>
                  <a:cubicBezTo>
                    <a:pt x="0" y="8509"/>
                    <a:pt x="8509" y="0"/>
                    <a:pt x="19050" y="0"/>
                  </a:cubicBezTo>
                  <a:lnTo>
                    <a:pt x="612775" y="0"/>
                  </a:lnTo>
                  <a:cubicBezTo>
                    <a:pt x="623316" y="0"/>
                    <a:pt x="631825" y="8509"/>
                    <a:pt x="631825" y="19050"/>
                  </a:cubicBezTo>
                  <a:cubicBezTo>
                    <a:pt x="631825" y="29591"/>
                    <a:pt x="623316" y="38100"/>
                    <a:pt x="612775" y="38100"/>
                  </a:cubicBezTo>
                  <a:lnTo>
                    <a:pt x="19050" y="38100"/>
                  </a:lnTo>
                  <a:cubicBezTo>
                    <a:pt x="8509" y="38100"/>
                    <a:pt x="0" y="29591"/>
                    <a:pt x="0" y="19050"/>
                  </a:cubicBezTo>
                  <a:close/>
                </a:path>
              </a:pathLst>
            </a:custGeom>
            <a:solidFill>
              <a:srgbClr val="BBC2DC"/>
            </a:solidFill>
          </p:spPr>
        </p:sp>
      </p:grpSp>
      <p:grpSp>
        <p:nvGrpSpPr>
          <p:cNvPr name="Group 11" id="11"/>
          <p:cNvGrpSpPr/>
          <p:nvPr/>
        </p:nvGrpSpPr>
        <p:grpSpPr>
          <a:xfrm rot="0">
            <a:off x="9055150" y="2215009"/>
            <a:ext cx="177701" cy="177701"/>
            <a:chOff x="0" y="0"/>
            <a:chExt cx="236935" cy="236935"/>
          </a:xfrm>
        </p:grpSpPr>
        <p:sp>
          <p:nvSpPr>
            <p:cNvPr name="Freeform 12" id="12"/>
            <p:cNvSpPr/>
            <p:nvPr/>
          </p:nvSpPr>
          <p:spPr>
            <a:xfrm flipH="false" flipV="false" rot="0">
              <a:off x="0" y="0"/>
              <a:ext cx="236982" cy="236982"/>
            </a:xfrm>
            <a:custGeom>
              <a:avLst/>
              <a:gdLst/>
              <a:ahLst/>
              <a:cxnLst/>
              <a:rect r="r" b="b" t="t" l="l"/>
              <a:pathLst>
                <a:path h="236982" w="236982">
                  <a:moveTo>
                    <a:pt x="0" y="118491"/>
                  </a:moveTo>
                  <a:cubicBezTo>
                    <a:pt x="0" y="53086"/>
                    <a:pt x="53086" y="0"/>
                    <a:pt x="118491" y="0"/>
                  </a:cubicBezTo>
                  <a:cubicBezTo>
                    <a:pt x="183896" y="0"/>
                    <a:pt x="236982" y="53086"/>
                    <a:pt x="236982" y="118491"/>
                  </a:cubicBezTo>
                  <a:cubicBezTo>
                    <a:pt x="236982" y="183896"/>
                    <a:pt x="183896" y="236982"/>
                    <a:pt x="118491" y="236982"/>
                  </a:cubicBezTo>
                  <a:cubicBezTo>
                    <a:pt x="53086" y="236982"/>
                    <a:pt x="0" y="183896"/>
                    <a:pt x="0" y="118491"/>
                  </a:cubicBezTo>
                  <a:close/>
                </a:path>
              </a:pathLst>
            </a:custGeom>
            <a:solidFill>
              <a:srgbClr val="1A2D7A"/>
            </a:solidFill>
          </p:spPr>
        </p:sp>
      </p:grpSp>
      <p:sp>
        <p:nvSpPr>
          <p:cNvPr name="TextBox 13" id="13"/>
          <p:cNvSpPr txBox="true"/>
          <p:nvPr/>
        </p:nvSpPr>
        <p:spPr>
          <a:xfrm rot="0">
            <a:off x="5078165" y="2109193"/>
            <a:ext cx="3117949" cy="399157"/>
          </a:xfrm>
          <a:prstGeom prst="rect">
            <a:avLst/>
          </a:prstGeom>
        </p:spPr>
        <p:txBody>
          <a:bodyPr anchor="t" rtlCol="false" tIns="0" lIns="0" bIns="0" rIns="0">
            <a:spAutoFit/>
          </a:bodyPr>
          <a:lstStyle/>
          <a:p>
            <a:pPr algn="r">
              <a:lnSpc>
                <a:spcPts val="3062"/>
              </a:lnSpc>
            </a:pPr>
            <a:r>
              <a:rPr lang="en-US" sz="2437" b="true">
                <a:solidFill>
                  <a:srgbClr val="3B3535"/>
                </a:solidFill>
                <a:latin typeface="Alexandria Bold"/>
                <a:ea typeface="Alexandria Bold"/>
                <a:cs typeface="Alexandria Bold"/>
                <a:sym typeface="Alexandria Bold"/>
              </a:rPr>
              <a:t>1. Data Preparation</a:t>
            </a:r>
          </a:p>
        </p:txBody>
      </p:sp>
      <p:sp>
        <p:nvSpPr>
          <p:cNvPr name="TextBox 14" id="14"/>
          <p:cNvSpPr txBox="true"/>
          <p:nvPr/>
        </p:nvSpPr>
        <p:spPr>
          <a:xfrm rot="0">
            <a:off x="947886" y="2555230"/>
            <a:ext cx="7248227" cy="853380"/>
          </a:xfrm>
          <a:prstGeom prst="rect">
            <a:avLst/>
          </a:prstGeom>
        </p:spPr>
        <p:txBody>
          <a:bodyPr anchor="t" rtlCol="false" tIns="0" lIns="0" bIns="0" rIns="0">
            <a:spAutoFit/>
          </a:bodyPr>
          <a:lstStyle/>
          <a:p>
            <a:pPr algn="r">
              <a:lnSpc>
                <a:spcPts val="2937"/>
              </a:lnSpc>
            </a:pPr>
            <a:r>
              <a:rPr lang="en-US" sz="1812">
                <a:solidFill>
                  <a:srgbClr val="3B3535"/>
                </a:solidFill>
                <a:latin typeface="Arimo"/>
                <a:ea typeface="Arimo"/>
                <a:cs typeface="Arimo"/>
                <a:sym typeface="Arimo"/>
              </a:rPr>
              <a:t>Clean and standardize item and transaction datasets, ensuring consistency in CP, SP, Profit %, and Margin.</a:t>
            </a:r>
          </a:p>
        </p:txBody>
      </p:sp>
      <p:grpSp>
        <p:nvGrpSpPr>
          <p:cNvPr name="Group 15" id="15"/>
          <p:cNvGrpSpPr/>
          <p:nvPr/>
        </p:nvGrpSpPr>
        <p:grpSpPr>
          <a:xfrm rot="0">
            <a:off x="9115425" y="3711327"/>
            <a:ext cx="473869" cy="28575"/>
            <a:chOff x="0" y="0"/>
            <a:chExt cx="631825" cy="38100"/>
          </a:xfrm>
        </p:grpSpPr>
        <p:sp>
          <p:nvSpPr>
            <p:cNvPr name="Freeform 16" id="16"/>
            <p:cNvSpPr/>
            <p:nvPr/>
          </p:nvSpPr>
          <p:spPr>
            <a:xfrm flipH="false" flipV="false" rot="0">
              <a:off x="0" y="0"/>
              <a:ext cx="631825" cy="38100"/>
            </a:xfrm>
            <a:custGeom>
              <a:avLst/>
              <a:gdLst/>
              <a:ahLst/>
              <a:cxnLst/>
              <a:rect r="r" b="b" t="t" l="l"/>
              <a:pathLst>
                <a:path h="38100" w="631825">
                  <a:moveTo>
                    <a:pt x="0" y="19050"/>
                  </a:moveTo>
                  <a:cubicBezTo>
                    <a:pt x="0" y="8509"/>
                    <a:pt x="8509" y="0"/>
                    <a:pt x="19050" y="0"/>
                  </a:cubicBezTo>
                  <a:lnTo>
                    <a:pt x="612775" y="0"/>
                  </a:lnTo>
                  <a:cubicBezTo>
                    <a:pt x="623316" y="0"/>
                    <a:pt x="631825" y="8509"/>
                    <a:pt x="631825" y="19050"/>
                  </a:cubicBezTo>
                  <a:cubicBezTo>
                    <a:pt x="631825" y="29591"/>
                    <a:pt x="623316" y="38100"/>
                    <a:pt x="612775" y="38100"/>
                  </a:cubicBezTo>
                  <a:lnTo>
                    <a:pt x="19050" y="38100"/>
                  </a:lnTo>
                  <a:cubicBezTo>
                    <a:pt x="8509" y="38100"/>
                    <a:pt x="0" y="29591"/>
                    <a:pt x="0" y="19050"/>
                  </a:cubicBezTo>
                  <a:close/>
                </a:path>
              </a:pathLst>
            </a:custGeom>
            <a:solidFill>
              <a:srgbClr val="BBC2DC"/>
            </a:solidFill>
          </p:spPr>
        </p:sp>
      </p:grpSp>
      <p:grpSp>
        <p:nvGrpSpPr>
          <p:cNvPr name="Group 17" id="17"/>
          <p:cNvGrpSpPr/>
          <p:nvPr/>
        </p:nvGrpSpPr>
        <p:grpSpPr>
          <a:xfrm rot="0">
            <a:off x="9055150" y="3636764"/>
            <a:ext cx="177701" cy="177701"/>
            <a:chOff x="0" y="0"/>
            <a:chExt cx="236935" cy="236935"/>
          </a:xfrm>
        </p:grpSpPr>
        <p:sp>
          <p:nvSpPr>
            <p:cNvPr name="Freeform 18" id="18"/>
            <p:cNvSpPr/>
            <p:nvPr/>
          </p:nvSpPr>
          <p:spPr>
            <a:xfrm flipH="false" flipV="false" rot="0">
              <a:off x="0" y="0"/>
              <a:ext cx="236982" cy="236982"/>
            </a:xfrm>
            <a:custGeom>
              <a:avLst/>
              <a:gdLst/>
              <a:ahLst/>
              <a:cxnLst/>
              <a:rect r="r" b="b" t="t" l="l"/>
              <a:pathLst>
                <a:path h="236982" w="236982">
                  <a:moveTo>
                    <a:pt x="0" y="118491"/>
                  </a:moveTo>
                  <a:cubicBezTo>
                    <a:pt x="0" y="53086"/>
                    <a:pt x="53086" y="0"/>
                    <a:pt x="118491" y="0"/>
                  </a:cubicBezTo>
                  <a:cubicBezTo>
                    <a:pt x="183896" y="0"/>
                    <a:pt x="236982" y="53086"/>
                    <a:pt x="236982" y="118491"/>
                  </a:cubicBezTo>
                  <a:cubicBezTo>
                    <a:pt x="236982" y="183896"/>
                    <a:pt x="183896" y="236982"/>
                    <a:pt x="118491" y="236982"/>
                  </a:cubicBezTo>
                  <a:cubicBezTo>
                    <a:pt x="53086" y="236982"/>
                    <a:pt x="0" y="183896"/>
                    <a:pt x="0" y="118491"/>
                  </a:cubicBezTo>
                  <a:close/>
                </a:path>
              </a:pathLst>
            </a:custGeom>
            <a:solidFill>
              <a:srgbClr val="1A2D7A"/>
            </a:solidFill>
          </p:spPr>
        </p:sp>
      </p:grpSp>
      <p:sp>
        <p:nvSpPr>
          <p:cNvPr name="TextBox 19" id="19"/>
          <p:cNvSpPr txBox="true"/>
          <p:nvPr/>
        </p:nvSpPr>
        <p:spPr>
          <a:xfrm rot="0">
            <a:off x="10091886" y="3530947"/>
            <a:ext cx="5095577" cy="373089"/>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2. Weight &amp; Bias Computation</a:t>
            </a:r>
          </a:p>
        </p:txBody>
      </p:sp>
      <p:sp>
        <p:nvSpPr>
          <p:cNvPr name="TextBox 20" id="20"/>
          <p:cNvSpPr txBox="true"/>
          <p:nvPr/>
        </p:nvSpPr>
        <p:spPr>
          <a:xfrm rot="0">
            <a:off x="10091886" y="3976985"/>
            <a:ext cx="7248227" cy="853380"/>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Assign numerical importance to each item, balancing its frequency with its profitability contribution.</a:t>
            </a:r>
          </a:p>
        </p:txBody>
      </p:sp>
      <p:grpSp>
        <p:nvGrpSpPr>
          <p:cNvPr name="Group 21" id="21"/>
          <p:cNvGrpSpPr/>
          <p:nvPr/>
        </p:nvGrpSpPr>
        <p:grpSpPr>
          <a:xfrm rot="0">
            <a:off x="8698706" y="4936777"/>
            <a:ext cx="473869" cy="28575"/>
            <a:chOff x="0" y="0"/>
            <a:chExt cx="631825" cy="38100"/>
          </a:xfrm>
        </p:grpSpPr>
        <p:sp>
          <p:nvSpPr>
            <p:cNvPr name="Freeform 22" id="22"/>
            <p:cNvSpPr/>
            <p:nvPr/>
          </p:nvSpPr>
          <p:spPr>
            <a:xfrm flipH="false" flipV="false" rot="0">
              <a:off x="0" y="0"/>
              <a:ext cx="631825" cy="38100"/>
            </a:xfrm>
            <a:custGeom>
              <a:avLst/>
              <a:gdLst/>
              <a:ahLst/>
              <a:cxnLst/>
              <a:rect r="r" b="b" t="t" l="l"/>
              <a:pathLst>
                <a:path h="38100" w="631825">
                  <a:moveTo>
                    <a:pt x="0" y="19050"/>
                  </a:moveTo>
                  <a:cubicBezTo>
                    <a:pt x="0" y="8509"/>
                    <a:pt x="8509" y="0"/>
                    <a:pt x="19050" y="0"/>
                  </a:cubicBezTo>
                  <a:lnTo>
                    <a:pt x="612775" y="0"/>
                  </a:lnTo>
                  <a:cubicBezTo>
                    <a:pt x="623316" y="0"/>
                    <a:pt x="631825" y="8509"/>
                    <a:pt x="631825" y="19050"/>
                  </a:cubicBezTo>
                  <a:cubicBezTo>
                    <a:pt x="631825" y="29591"/>
                    <a:pt x="623316" y="38100"/>
                    <a:pt x="612775" y="38100"/>
                  </a:cubicBezTo>
                  <a:lnTo>
                    <a:pt x="19050" y="38100"/>
                  </a:lnTo>
                  <a:cubicBezTo>
                    <a:pt x="8509" y="38100"/>
                    <a:pt x="0" y="29591"/>
                    <a:pt x="0" y="19050"/>
                  </a:cubicBezTo>
                  <a:close/>
                </a:path>
              </a:pathLst>
            </a:custGeom>
            <a:solidFill>
              <a:srgbClr val="BBC2DC"/>
            </a:solidFill>
          </p:spPr>
        </p:sp>
      </p:grpSp>
      <p:grpSp>
        <p:nvGrpSpPr>
          <p:cNvPr name="Group 23" id="23"/>
          <p:cNvGrpSpPr/>
          <p:nvPr/>
        </p:nvGrpSpPr>
        <p:grpSpPr>
          <a:xfrm rot="0">
            <a:off x="9055150" y="4862215"/>
            <a:ext cx="177701" cy="177701"/>
            <a:chOff x="0" y="0"/>
            <a:chExt cx="236935" cy="236935"/>
          </a:xfrm>
        </p:grpSpPr>
        <p:sp>
          <p:nvSpPr>
            <p:cNvPr name="Freeform 24" id="24"/>
            <p:cNvSpPr/>
            <p:nvPr/>
          </p:nvSpPr>
          <p:spPr>
            <a:xfrm flipH="false" flipV="false" rot="0">
              <a:off x="0" y="0"/>
              <a:ext cx="236982" cy="236982"/>
            </a:xfrm>
            <a:custGeom>
              <a:avLst/>
              <a:gdLst/>
              <a:ahLst/>
              <a:cxnLst/>
              <a:rect r="r" b="b" t="t" l="l"/>
              <a:pathLst>
                <a:path h="236982" w="236982">
                  <a:moveTo>
                    <a:pt x="0" y="118491"/>
                  </a:moveTo>
                  <a:cubicBezTo>
                    <a:pt x="0" y="53086"/>
                    <a:pt x="53086" y="0"/>
                    <a:pt x="118491" y="0"/>
                  </a:cubicBezTo>
                  <a:cubicBezTo>
                    <a:pt x="183896" y="0"/>
                    <a:pt x="236982" y="53086"/>
                    <a:pt x="236982" y="118491"/>
                  </a:cubicBezTo>
                  <a:cubicBezTo>
                    <a:pt x="236982" y="183896"/>
                    <a:pt x="183896" y="236982"/>
                    <a:pt x="118491" y="236982"/>
                  </a:cubicBezTo>
                  <a:cubicBezTo>
                    <a:pt x="53086" y="236982"/>
                    <a:pt x="0" y="183896"/>
                    <a:pt x="0" y="118491"/>
                  </a:cubicBezTo>
                  <a:close/>
                </a:path>
              </a:pathLst>
            </a:custGeom>
            <a:solidFill>
              <a:srgbClr val="1A2D7A"/>
            </a:solidFill>
          </p:spPr>
        </p:sp>
      </p:grpSp>
      <p:sp>
        <p:nvSpPr>
          <p:cNvPr name="TextBox 25" id="25"/>
          <p:cNvSpPr txBox="true"/>
          <p:nvPr/>
        </p:nvSpPr>
        <p:spPr>
          <a:xfrm rot="0">
            <a:off x="4783931" y="4753147"/>
            <a:ext cx="3412182" cy="373089"/>
          </a:xfrm>
          <a:prstGeom prst="rect">
            <a:avLst/>
          </a:prstGeom>
        </p:spPr>
        <p:txBody>
          <a:bodyPr anchor="t" rtlCol="false" tIns="0" lIns="0" bIns="0" rIns="0">
            <a:spAutoFit/>
          </a:bodyPr>
          <a:lstStyle/>
          <a:p>
            <a:pPr algn="r">
              <a:lnSpc>
                <a:spcPts val="3062"/>
              </a:lnSpc>
            </a:pPr>
            <a:r>
              <a:rPr lang="en-US" sz="2437" b="true">
                <a:solidFill>
                  <a:srgbClr val="3B3535"/>
                </a:solidFill>
                <a:latin typeface="Alexandria Bold"/>
                <a:ea typeface="Alexandria Bold"/>
                <a:cs typeface="Alexandria Bold"/>
                <a:sym typeface="Alexandria Bold"/>
              </a:rPr>
              <a:t>3. Apriori Algorithm</a:t>
            </a:r>
          </a:p>
        </p:txBody>
      </p:sp>
      <p:sp>
        <p:nvSpPr>
          <p:cNvPr name="TextBox 26" id="26"/>
          <p:cNvSpPr txBox="true"/>
          <p:nvPr/>
        </p:nvSpPr>
        <p:spPr>
          <a:xfrm rot="0">
            <a:off x="947886" y="5202436"/>
            <a:ext cx="7248227" cy="853380"/>
          </a:xfrm>
          <a:prstGeom prst="rect">
            <a:avLst/>
          </a:prstGeom>
        </p:spPr>
        <p:txBody>
          <a:bodyPr anchor="t" rtlCol="false" tIns="0" lIns="0" bIns="0" rIns="0">
            <a:spAutoFit/>
          </a:bodyPr>
          <a:lstStyle/>
          <a:p>
            <a:pPr algn="r">
              <a:lnSpc>
                <a:spcPts val="2937"/>
              </a:lnSpc>
            </a:pPr>
            <a:r>
              <a:rPr lang="en-US" sz="1812">
                <a:solidFill>
                  <a:srgbClr val="3B3535"/>
                </a:solidFill>
                <a:latin typeface="Arimo"/>
                <a:ea typeface="Arimo"/>
                <a:cs typeface="Arimo"/>
                <a:sym typeface="Arimo"/>
              </a:rPr>
              <a:t>Apply frequent itemset mining and extract association rules based on support, confidence, and lift.</a:t>
            </a:r>
          </a:p>
        </p:txBody>
      </p:sp>
      <p:grpSp>
        <p:nvGrpSpPr>
          <p:cNvPr name="Group 27" id="27"/>
          <p:cNvGrpSpPr/>
          <p:nvPr/>
        </p:nvGrpSpPr>
        <p:grpSpPr>
          <a:xfrm rot="0">
            <a:off x="9115425" y="6162377"/>
            <a:ext cx="473869" cy="28575"/>
            <a:chOff x="0" y="0"/>
            <a:chExt cx="631825" cy="38100"/>
          </a:xfrm>
        </p:grpSpPr>
        <p:sp>
          <p:nvSpPr>
            <p:cNvPr name="Freeform 28" id="28"/>
            <p:cNvSpPr/>
            <p:nvPr/>
          </p:nvSpPr>
          <p:spPr>
            <a:xfrm flipH="false" flipV="false" rot="0">
              <a:off x="0" y="0"/>
              <a:ext cx="631825" cy="38100"/>
            </a:xfrm>
            <a:custGeom>
              <a:avLst/>
              <a:gdLst/>
              <a:ahLst/>
              <a:cxnLst/>
              <a:rect r="r" b="b" t="t" l="l"/>
              <a:pathLst>
                <a:path h="38100" w="631825">
                  <a:moveTo>
                    <a:pt x="0" y="19050"/>
                  </a:moveTo>
                  <a:cubicBezTo>
                    <a:pt x="0" y="8509"/>
                    <a:pt x="8509" y="0"/>
                    <a:pt x="19050" y="0"/>
                  </a:cubicBezTo>
                  <a:lnTo>
                    <a:pt x="612775" y="0"/>
                  </a:lnTo>
                  <a:cubicBezTo>
                    <a:pt x="623316" y="0"/>
                    <a:pt x="631825" y="8509"/>
                    <a:pt x="631825" y="19050"/>
                  </a:cubicBezTo>
                  <a:cubicBezTo>
                    <a:pt x="631825" y="29591"/>
                    <a:pt x="623316" y="38100"/>
                    <a:pt x="612775" y="38100"/>
                  </a:cubicBezTo>
                  <a:lnTo>
                    <a:pt x="19050" y="38100"/>
                  </a:lnTo>
                  <a:cubicBezTo>
                    <a:pt x="8509" y="38100"/>
                    <a:pt x="0" y="29591"/>
                    <a:pt x="0" y="19050"/>
                  </a:cubicBezTo>
                  <a:close/>
                </a:path>
              </a:pathLst>
            </a:custGeom>
            <a:solidFill>
              <a:srgbClr val="BBC2DC"/>
            </a:solidFill>
          </p:spPr>
        </p:sp>
      </p:grpSp>
      <p:grpSp>
        <p:nvGrpSpPr>
          <p:cNvPr name="Group 29" id="29"/>
          <p:cNvGrpSpPr/>
          <p:nvPr/>
        </p:nvGrpSpPr>
        <p:grpSpPr>
          <a:xfrm rot="0">
            <a:off x="9055150" y="6087815"/>
            <a:ext cx="177701" cy="177701"/>
            <a:chOff x="0" y="0"/>
            <a:chExt cx="236935" cy="236935"/>
          </a:xfrm>
        </p:grpSpPr>
        <p:sp>
          <p:nvSpPr>
            <p:cNvPr name="Freeform 30" id="30"/>
            <p:cNvSpPr/>
            <p:nvPr/>
          </p:nvSpPr>
          <p:spPr>
            <a:xfrm flipH="false" flipV="false" rot="0">
              <a:off x="0" y="0"/>
              <a:ext cx="236982" cy="236982"/>
            </a:xfrm>
            <a:custGeom>
              <a:avLst/>
              <a:gdLst/>
              <a:ahLst/>
              <a:cxnLst/>
              <a:rect r="r" b="b" t="t" l="l"/>
              <a:pathLst>
                <a:path h="236982" w="236982">
                  <a:moveTo>
                    <a:pt x="0" y="118491"/>
                  </a:moveTo>
                  <a:cubicBezTo>
                    <a:pt x="0" y="53086"/>
                    <a:pt x="53086" y="0"/>
                    <a:pt x="118491" y="0"/>
                  </a:cubicBezTo>
                  <a:cubicBezTo>
                    <a:pt x="183896" y="0"/>
                    <a:pt x="236982" y="53086"/>
                    <a:pt x="236982" y="118491"/>
                  </a:cubicBezTo>
                  <a:cubicBezTo>
                    <a:pt x="236982" y="183896"/>
                    <a:pt x="183896" y="236982"/>
                    <a:pt x="118491" y="236982"/>
                  </a:cubicBezTo>
                  <a:cubicBezTo>
                    <a:pt x="53086" y="236982"/>
                    <a:pt x="0" y="183896"/>
                    <a:pt x="0" y="118491"/>
                  </a:cubicBezTo>
                  <a:close/>
                </a:path>
              </a:pathLst>
            </a:custGeom>
            <a:solidFill>
              <a:srgbClr val="1A2D7A"/>
            </a:solidFill>
          </p:spPr>
        </p:sp>
      </p:grpSp>
      <p:sp>
        <p:nvSpPr>
          <p:cNvPr name="TextBox 31" id="31"/>
          <p:cNvSpPr txBox="true"/>
          <p:nvPr/>
        </p:nvSpPr>
        <p:spPr>
          <a:xfrm rot="0">
            <a:off x="10091886" y="5981997"/>
            <a:ext cx="4602659" cy="373089"/>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4. Contextual Awareness</a:t>
            </a:r>
          </a:p>
        </p:txBody>
      </p:sp>
      <p:sp>
        <p:nvSpPr>
          <p:cNvPr name="TextBox 32" id="32"/>
          <p:cNvSpPr txBox="true"/>
          <p:nvPr/>
        </p:nvSpPr>
        <p:spPr>
          <a:xfrm rot="0">
            <a:off x="10091886" y="6428035"/>
            <a:ext cx="7248227" cy="853380"/>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Re-rank identified rules by integrating profit-based weights, filtering for those that boost both sales and profit.</a:t>
            </a:r>
          </a:p>
        </p:txBody>
      </p:sp>
      <p:grpSp>
        <p:nvGrpSpPr>
          <p:cNvPr name="Group 33" id="33"/>
          <p:cNvGrpSpPr/>
          <p:nvPr/>
        </p:nvGrpSpPr>
        <p:grpSpPr>
          <a:xfrm rot="0">
            <a:off x="8698706" y="7387977"/>
            <a:ext cx="473869" cy="28575"/>
            <a:chOff x="0" y="0"/>
            <a:chExt cx="631825" cy="38100"/>
          </a:xfrm>
        </p:grpSpPr>
        <p:sp>
          <p:nvSpPr>
            <p:cNvPr name="Freeform 34" id="34"/>
            <p:cNvSpPr/>
            <p:nvPr/>
          </p:nvSpPr>
          <p:spPr>
            <a:xfrm flipH="false" flipV="false" rot="0">
              <a:off x="0" y="0"/>
              <a:ext cx="631825" cy="38100"/>
            </a:xfrm>
            <a:custGeom>
              <a:avLst/>
              <a:gdLst/>
              <a:ahLst/>
              <a:cxnLst/>
              <a:rect r="r" b="b" t="t" l="l"/>
              <a:pathLst>
                <a:path h="38100" w="631825">
                  <a:moveTo>
                    <a:pt x="0" y="19050"/>
                  </a:moveTo>
                  <a:cubicBezTo>
                    <a:pt x="0" y="8509"/>
                    <a:pt x="8509" y="0"/>
                    <a:pt x="19050" y="0"/>
                  </a:cubicBezTo>
                  <a:lnTo>
                    <a:pt x="612775" y="0"/>
                  </a:lnTo>
                  <a:cubicBezTo>
                    <a:pt x="623316" y="0"/>
                    <a:pt x="631825" y="8509"/>
                    <a:pt x="631825" y="19050"/>
                  </a:cubicBezTo>
                  <a:cubicBezTo>
                    <a:pt x="631825" y="29591"/>
                    <a:pt x="623316" y="38100"/>
                    <a:pt x="612775" y="38100"/>
                  </a:cubicBezTo>
                  <a:lnTo>
                    <a:pt x="19050" y="38100"/>
                  </a:lnTo>
                  <a:cubicBezTo>
                    <a:pt x="8509" y="38100"/>
                    <a:pt x="0" y="29591"/>
                    <a:pt x="0" y="19050"/>
                  </a:cubicBezTo>
                  <a:close/>
                </a:path>
              </a:pathLst>
            </a:custGeom>
            <a:solidFill>
              <a:srgbClr val="BBC2DC"/>
            </a:solidFill>
          </p:spPr>
        </p:sp>
      </p:grpSp>
      <p:grpSp>
        <p:nvGrpSpPr>
          <p:cNvPr name="Group 35" id="35"/>
          <p:cNvGrpSpPr/>
          <p:nvPr/>
        </p:nvGrpSpPr>
        <p:grpSpPr>
          <a:xfrm rot="0">
            <a:off x="9055150" y="7313414"/>
            <a:ext cx="177701" cy="177701"/>
            <a:chOff x="0" y="0"/>
            <a:chExt cx="236935" cy="236935"/>
          </a:xfrm>
        </p:grpSpPr>
        <p:sp>
          <p:nvSpPr>
            <p:cNvPr name="Freeform 36" id="36"/>
            <p:cNvSpPr/>
            <p:nvPr/>
          </p:nvSpPr>
          <p:spPr>
            <a:xfrm flipH="false" flipV="false" rot="0">
              <a:off x="0" y="0"/>
              <a:ext cx="236982" cy="236982"/>
            </a:xfrm>
            <a:custGeom>
              <a:avLst/>
              <a:gdLst/>
              <a:ahLst/>
              <a:cxnLst/>
              <a:rect r="r" b="b" t="t" l="l"/>
              <a:pathLst>
                <a:path h="236982" w="236982">
                  <a:moveTo>
                    <a:pt x="0" y="118491"/>
                  </a:moveTo>
                  <a:cubicBezTo>
                    <a:pt x="0" y="53086"/>
                    <a:pt x="53086" y="0"/>
                    <a:pt x="118491" y="0"/>
                  </a:cubicBezTo>
                  <a:cubicBezTo>
                    <a:pt x="183896" y="0"/>
                    <a:pt x="236982" y="53086"/>
                    <a:pt x="236982" y="118491"/>
                  </a:cubicBezTo>
                  <a:cubicBezTo>
                    <a:pt x="236982" y="183896"/>
                    <a:pt x="183896" y="236982"/>
                    <a:pt x="118491" y="236982"/>
                  </a:cubicBezTo>
                  <a:cubicBezTo>
                    <a:pt x="53086" y="236982"/>
                    <a:pt x="0" y="183896"/>
                    <a:pt x="0" y="118491"/>
                  </a:cubicBezTo>
                  <a:close/>
                </a:path>
              </a:pathLst>
            </a:custGeom>
            <a:solidFill>
              <a:srgbClr val="1A2D7A"/>
            </a:solidFill>
          </p:spPr>
        </p:sp>
      </p:grpSp>
      <p:sp>
        <p:nvSpPr>
          <p:cNvPr name="TextBox 37" id="37"/>
          <p:cNvSpPr txBox="true"/>
          <p:nvPr/>
        </p:nvSpPr>
        <p:spPr>
          <a:xfrm rot="0">
            <a:off x="2647950" y="7196670"/>
            <a:ext cx="5548164" cy="373089"/>
          </a:xfrm>
          <a:prstGeom prst="rect">
            <a:avLst/>
          </a:prstGeom>
        </p:spPr>
        <p:txBody>
          <a:bodyPr anchor="t" rtlCol="false" tIns="0" lIns="0" bIns="0" rIns="0">
            <a:spAutoFit/>
          </a:bodyPr>
          <a:lstStyle/>
          <a:p>
            <a:pPr algn="r">
              <a:lnSpc>
                <a:spcPts val="3062"/>
              </a:lnSpc>
            </a:pPr>
            <a:r>
              <a:rPr lang="en-US" sz="2437" b="true">
                <a:solidFill>
                  <a:srgbClr val="3B3535"/>
                </a:solidFill>
                <a:latin typeface="Alexandria Bold"/>
                <a:ea typeface="Alexandria Bold"/>
                <a:cs typeface="Alexandria Bold"/>
                <a:sym typeface="Alexandria Bold"/>
              </a:rPr>
              <a:t>5. Recommendation Generation</a:t>
            </a:r>
          </a:p>
        </p:txBody>
      </p:sp>
      <p:sp>
        <p:nvSpPr>
          <p:cNvPr name="TextBox 38" id="38"/>
          <p:cNvSpPr txBox="true"/>
          <p:nvPr/>
        </p:nvSpPr>
        <p:spPr>
          <a:xfrm rot="0">
            <a:off x="947886" y="7653635"/>
            <a:ext cx="7248227" cy="853380"/>
          </a:xfrm>
          <a:prstGeom prst="rect">
            <a:avLst/>
          </a:prstGeom>
        </p:spPr>
        <p:txBody>
          <a:bodyPr anchor="t" rtlCol="false" tIns="0" lIns="0" bIns="0" rIns="0">
            <a:spAutoFit/>
          </a:bodyPr>
          <a:lstStyle/>
          <a:p>
            <a:pPr algn="r">
              <a:lnSpc>
                <a:spcPts val="2937"/>
              </a:lnSpc>
            </a:pPr>
            <a:r>
              <a:rPr lang="en-US" sz="1812">
                <a:solidFill>
                  <a:srgbClr val="3B3535"/>
                </a:solidFill>
                <a:latin typeface="Arimo"/>
                <a:ea typeface="Arimo"/>
                <a:cs typeface="Arimo"/>
                <a:sym typeface="Arimo"/>
              </a:rPr>
              <a:t>Output tailored item combinations and recommendations for enhanced customer experience and retailer benefit.</a:t>
            </a:r>
          </a:p>
        </p:txBody>
      </p:sp>
      <p:sp>
        <p:nvSpPr>
          <p:cNvPr name="Freeform 39" id="39"/>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098209" y="1869132"/>
            <a:ext cx="4641353" cy="373089"/>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Transformative Outcomes</a:t>
            </a:r>
          </a:p>
        </p:txBody>
      </p:sp>
      <p:sp>
        <p:nvSpPr>
          <p:cNvPr name="TextBox 7" id="7"/>
          <p:cNvSpPr txBox="true"/>
          <p:nvPr/>
        </p:nvSpPr>
        <p:spPr>
          <a:xfrm rot="0">
            <a:off x="3270796" y="2467124"/>
            <a:ext cx="12889260" cy="1062064"/>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Expected Impact of CARTS</a:t>
            </a:r>
          </a:p>
        </p:txBody>
      </p:sp>
      <p:grpSp>
        <p:nvGrpSpPr>
          <p:cNvPr name="Group 8" id="8"/>
          <p:cNvGrpSpPr>
            <a:grpSpLocks noChangeAspect="true"/>
          </p:cNvGrpSpPr>
          <p:nvPr/>
        </p:nvGrpSpPr>
        <p:grpSpPr>
          <a:xfrm rot="0">
            <a:off x="947886" y="3936206"/>
            <a:ext cx="592336" cy="592336"/>
            <a:chOff x="0" y="0"/>
            <a:chExt cx="789782" cy="789782"/>
          </a:xfrm>
        </p:grpSpPr>
        <p:sp>
          <p:nvSpPr>
            <p:cNvPr name="Freeform 9" id="9" descr="preencoded.png"/>
            <p:cNvSpPr/>
            <p:nvPr/>
          </p:nvSpPr>
          <p:spPr>
            <a:xfrm flipH="false" flipV="false" rot="0">
              <a:off x="0" y="0"/>
              <a:ext cx="789813" cy="789813"/>
            </a:xfrm>
            <a:custGeom>
              <a:avLst/>
              <a:gdLst/>
              <a:ahLst/>
              <a:cxnLst/>
              <a:rect r="r" b="b" t="t" l="l"/>
              <a:pathLst>
                <a:path h="789813" w="789813">
                  <a:moveTo>
                    <a:pt x="0" y="0"/>
                  </a:moveTo>
                  <a:lnTo>
                    <a:pt x="789813" y="0"/>
                  </a:lnTo>
                  <a:lnTo>
                    <a:pt x="789813" y="789813"/>
                  </a:lnTo>
                  <a:lnTo>
                    <a:pt x="0" y="789813"/>
                  </a:lnTo>
                  <a:lnTo>
                    <a:pt x="0" y="0"/>
                  </a:lnTo>
                  <a:close/>
                </a:path>
              </a:pathLst>
            </a:custGeom>
            <a:blipFill>
              <a:blip r:embed="rId3"/>
              <a:stretch>
                <a:fillRect l="0" t="0" r="3" b="3"/>
              </a:stretch>
            </a:blipFill>
          </p:spPr>
        </p:sp>
      </p:grpSp>
      <p:sp>
        <p:nvSpPr>
          <p:cNvPr name="TextBox 10" id="10"/>
          <p:cNvSpPr txBox="true"/>
          <p:nvPr/>
        </p:nvSpPr>
        <p:spPr>
          <a:xfrm rot="0">
            <a:off x="1836390" y="4067324"/>
            <a:ext cx="5559475" cy="373089"/>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Profit-Aware Recommendations</a:t>
            </a:r>
          </a:p>
        </p:txBody>
      </p:sp>
      <p:sp>
        <p:nvSpPr>
          <p:cNvPr name="TextBox 11" id="11"/>
          <p:cNvSpPr txBox="true"/>
          <p:nvPr/>
        </p:nvSpPr>
        <p:spPr>
          <a:xfrm rot="0">
            <a:off x="1836390" y="4513361"/>
            <a:ext cx="7159526"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Move beyond simple frequency to deliver a sophisticated recommendation system that directly factors in product profitability.</a:t>
            </a:r>
          </a:p>
        </p:txBody>
      </p:sp>
      <p:grpSp>
        <p:nvGrpSpPr>
          <p:cNvPr name="Group 12" id="12"/>
          <p:cNvGrpSpPr>
            <a:grpSpLocks noChangeAspect="true"/>
          </p:cNvGrpSpPr>
          <p:nvPr/>
        </p:nvGrpSpPr>
        <p:grpSpPr>
          <a:xfrm rot="0">
            <a:off x="9292084" y="3936206"/>
            <a:ext cx="592336" cy="592336"/>
            <a:chOff x="0" y="0"/>
            <a:chExt cx="789782" cy="789782"/>
          </a:xfrm>
        </p:grpSpPr>
        <p:sp>
          <p:nvSpPr>
            <p:cNvPr name="Freeform 13" id="13" descr="preencoded.png"/>
            <p:cNvSpPr/>
            <p:nvPr/>
          </p:nvSpPr>
          <p:spPr>
            <a:xfrm flipH="false" flipV="false" rot="0">
              <a:off x="0" y="0"/>
              <a:ext cx="789813" cy="789813"/>
            </a:xfrm>
            <a:custGeom>
              <a:avLst/>
              <a:gdLst/>
              <a:ahLst/>
              <a:cxnLst/>
              <a:rect r="r" b="b" t="t" l="l"/>
              <a:pathLst>
                <a:path h="789813" w="789813">
                  <a:moveTo>
                    <a:pt x="0" y="0"/>
                  </a:moveTo>
                  <a:lnTo>
                    <a:pt x="789813" y="0"/>
                  </a:lnTo>
                  <a:lnTo>
                    <a:pt x="789813" y="789813"/>
                  </a:lnTo>
                  <a:lnTo>
                    <a:pt x="0" y="789813"/>
                  </a:lnTo>
                  <a:lnTo>
                    <a:pt x="0" y="0"/>
                  </a:lnTo>
                  <a:close/>
                </a:path>
              </a:pathLst>
            </a:custGeom>
            <a:blipFill>
              <a:blip r:embed="rId4"/>
              <a:stretch>
                <a:fillRect l="0" t="0" r="3" b="3"/>
              </a:stretch>
            </a:blipFill>
          </p:spPr>
        </p:sp>
      </p:grpSp>
      <p:sp>
        <p:nvSpPr>
          <p:cNvPr name="TextBox 14" id="14"/>
          <p:cNvSpPr txBox="true"/>
          <p:nvPr/>
        </p:nvSpPr>
        <p:spPr>
          <a:xfrm rot="0">
            <a:off x="10180587" y="4067324"/>
            <a:ext cx="4164806" cy="373089"/>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Boosted Cross-Selling</a:t>
            </a:r>
          </a:p>
        </p:txBody>
      </p:sp>
      <p:sp>
        <p:nvSpPr>
          <p:cNvPr name="TextBox 15" id="15"/>
          <p:cNvSpPr txBox="true"/>
          <p:nvPr/>
        </p:nvSpPr>
        <p:spPr>
          <a:xfrm rot="0">
            <a:off x="10180587" y="4513361"/>
            <a:ext cx="7159526"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Significantly enhance cross-selling potential for retailers by suggesting complementary items that also yield higher margins.</a:t>
            </a:r>
          </a:p>
        </p:txBody>
      </p:sp>
      <p:grpSp>
        <p:nvGrpSpPr>
          <p:cNvPr name="Group 16" id="16"/>
          <p:cNvGrpSpPr>
            <a:grpSpLocks noChangeAspect="true"/>
          </p:cNvGrpSpPr>
          <p:nvPr/>
        </p:nvGrpSpPr>
        <p:grpSpPr>
          <a:xfrm rot="0">
            <a:off x="947886" y="6219676"/>
            <a:ext cx="592336" cy="592336"/>
            <a:chOff x="0" y="0"/>
            <a:chExt cx="789782" cy="789782"/>
          </a:xfrm>
        </p:grpSpPr>
        <p:sp>
          <p:nvSpPr>
            <p:cNvPr name="Freeform 17" id="17" descr="preencoded.png"/>
            <p:cNvSpPr/>
            <p:nvPr/>
          </p:nvSpPr>
          <p:spPr>
            <a:xfrm flipH="false" flipV="false" rot="0">
              <a:off x="0" y="0"/>
              <a:ext cx="789813" cy="789813"/>
            </a:xfrm>
            <a:custGeom>
              <a:avLst/>
              <a:gdLst/>
              <a:ahLst/>
              <a:cxnLst/>
              <a:rect r="r" b="b" t="t" l="l"/>
              <a:pathLst>
                <a:path h="789813" w="789813">
                  <a:moveTo>
                    <a:pt x="0" y="0"/>
                  </a:moveTo>
                  <a:lnTo>
                    <a:pt x="789813" y="0"/>
                  </a:lnTo>
                  <a:lnTo>
                    <a:pt x="789813" y="789813"/>
                  </a:lnTo>
                  <a:lnTo>
                    <a:pt x="0" y="789813"/>
                  </a:lnTo>
                  <a:lnTo>
                    <a:pt x="0" y="0"/>
                  </a:lnTo>
                  <a:close/>
                </a:path>
              </a:pathLst>
            </a:custGeom>
            <a:blipFill>
              <a:blip r:embed="rId5"/>
              <a:stretch>
                <a:fillRect l="0" t="0" r="3" b="3"/>
              </a:stretch>
            </a:blipFill>
          </p:spPr>
        </p:sp>
      </p:grpSp>
      <p:sp>
        <p:nvSpPr>
          <p:cNvPr name="TextBox 18" id="18"/>
          <p:cNvSpPr txBox="true"/>
          <p:nvPr/>
        </p:nvSpPr>
        <p:spPr>
          <a:xfrm rot="0">
            <a:off x="1836390" y="6350794"/>
            <a:ext cx="3579763" cy="373089"/>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Balanced Approach</a:t>
            </a:r>
          </a:p>
        </p:txBody>
      </p:sp>
      <p:sp>
        <p:nvSpPr>
          <p:cNvPr name="TextBox 19" id="19"/>
          <p:cNvSpPr txBox="true"/>
          <p:nvPr/>
        </p:nvSpPr>
        <p:spPr>
          <a:xfrm rot="0">
            <a:off x="1836390" y="6796831"/>
            <a:ext cx="7159526" cy="1232446"/>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Achieve a harmonious balance where customers receive genuinely meaningful suggestions, and businesses concurrently maximize their profitability.</a:t>
            </a:r>
          </a:p>
        </p:txBody>
      </p:sp>
      <p:grpSp>
        <p:nvGrpSpPr>
          <p:cNvPr name="Group 20" id="20"/>
          <p:cNvGrpSpPr>
            <a:grpSpLocks noChangeAspect="true"/>
          </p:cNvGrpSpPr>
          <p:nvPr/>
        </p:nvGrpSpPr>
        <p:grpSpPr>
          <a:xfrm rot="0">
            <a:off x="9292084" y="6219676"/>
            <a:ext cx="592336" cy="592336"/>
            <a:chOff x="0" y="0"/>
            <a:chExt cx="789782" cy="789782"/>
          </a:xfrm>
        </p:grpSpPr>
        <p:sp>
          <p:nvSpPr>
            <p:cNvPr name="Freeform 21" id="21" descr="preencoded.png"/>
            <p:cNvSpPr/>
            <p:nvPr/>
          </p:nvSpPr>
          <p:spPr>
            <a:xfrm flipH="false" flipV="false" rot="0">
              <a:off x="0" y="0"/>
              <a:ext cx="789813" cy="789813"/>
            </a:xfrm>
            <a:custGeom>
              <a:avLst/>
              <a:gdLst/>
              <a:ahLst/>
              <a:cxnLst/>
              <a:rect r="r" b="b" t="t" l="l"/>
              <a:pathLst>
                <a:path h="789813" w="789813">
                  <a:moveTo>
                    <a:pt x="0" y="0"/>
                  </a:moveTo>
                  <a:lnTo>
                    <a:pt x="789813" y="0"/>
                  </a:lnTo>
                  <a:lnTo>
                    <a:pt x="789813" y="789813"/>
                  </a:lnTo>
                  <a:lnTo>
                    <a:pt x="0" y="789813"/>
                  </a:lnTo>
                  <a:lnTo>
                    <a:pt x="0" y="0"/>
                  </a:lnTo>
                  <a:close/>
                </a:path>
              </a:pathLst>
            </a:custGeom>
            <a:blipFill>
              <a:blip r:embed="rId6"/>
              <a:stretch>
                <a:fillRect l="0" t="0" r="3" b="3"/>
              </a:stretch>
            </a:blipFill>
          </p:spPr>
        </p:sp>
      </p:grpSp>
      <p:sp>
        <p:nvSpPr>
          <p:cNvPr name="TextBox 22" id="22"/>
          <p:cNvSpPr txBox="true"/>
          <p:nvPr/>
        </p:nvSpPr>
        <p:spPr>
          <a:xfrm rot="0">
            <a:off x="10180587" y="6350794"/>
            <a:ext cx="3117949" cy="399158"/>
          </a:xfrm>
          <a:prstGeom prst="rect">
            <a:avLst/>
          </a:prstGeom>
        </p:spPr>
        <p:txBody>
          <a:bodyPr anchor="t" rtlCol="false" tIns="0" lIns="0" bIns="0" rIns="0">
            <a:spAutoFit/>
          </a:bodyPr>
          <a:lstStyle/>
          <a:p>
            <a:pPr algn="l">
              <a:lnSpc>
                <a:spcPts val="3062"/>
              </a:lnSpc>
            </a:pPr>
            <a:r>
              <a:rPr lang="en-US" sz="2437" b="true">
                <a:solidFill>
                  <a:srgbClr val="3B3535"/>
                </a:solidFill>
                <a:latin typeface="Alexandria Bold"/>
                <a:ea typeface="Alexandria Bold"/>
                <a:cs typeface="Alexandria Bold"/>
                <a:sym typeface="Alexandria Bold"/>
              </a:rPr>
              <a:t>Scalable Model</a:t>
            </a:r>
          </a:p>
        </p:txBody>
      </p:sp>
      <p:sp>
        <p:nvSpPr>
          <p:cNvPr name="TextBox 23" id="23"/>
          <p:cNvSpPr txBox="true"/>
          <p:nvPr/>
        </p:nvSpPr>
        <p:spPr>
          <a:xfrm rot="0">
            <a:off x="10180587" y="6796831"/>
            <a:ext cx="7159526" cy="161151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Provide a robust and scalable framework that can be seamlessly extended to accommodate larger datasets and diverse industries, including e-commerce, Fast-Moving Consumer Goods (FMCG), and large retail chains.</a:t>
            </a:r>
          </a:p>
        </p:txBody>
      </p:sp>
      <p:sp>
        <p:nvSpPr>
          <p:cNvPr name="Freeform 24" id="24"/>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6937622" y="946100"/>
            <a:ext cx="4374505" cy="754116"/>
          </a:xfrm>
          <a:prstGeom prst="rect">
            <a:avLst/>
          </a:prstGeom>
        </p:spPr>
        <p:txBody>
          <a:bodyPr anchor="t" rtlCol="false" tIns="0" lIns="0" bIns="0" rIns="0">
            <a:spAutoFit/>
          </a:bodyPr>
          <a:lstStyle/>
          <a:p>
            <a:pPr algn="ctr">
              <a:lnSpc>
                <a:spcPts val="3062"/>
              </a:lnSpc>
            </a:pPr>
            <a:r>
              <a:rPr lang="en-US" sz="2437" b="true">
                <a:solidFill>
                  <a:srgbClr val="1F1E1E"/>
                </a:solidFill>
                <a:latin typeface="Alexandria Bold"/>
                <a:ea typeface="Alexandria Bold"/>
                <a:cs typeface="Alexandria Bold"/>
                <a:sym typeface="Alexandria Bold"/>
              </a:rPr>
              <a:t>Further Reading &amp; Research</a:t>
            </a:r>
          </a:p>
        </p:txBody>
      </p:sp>
      <p:sp>
        <p:nvSpPr>
          <p:cNvPr name="TextBox 7" id="7"/>
          <p:cNvSpPr txBox="true"/>
          <p:nvPr/>
        </p:nvSpPr>
        <p:spPr>
          <a:xfrm rot="0">
            <a:off x="4821956" y="1662116"/>
            <a:ext cx="8605838" cy="1113681"/>
          </a:xfrm>
          <a:prstGeom prst="rect">
            <a:avLst/>
          </a:prstGeom>
        </p:spPr>
        <p:txBody>
          <a:bodyPr anchor="t" rtlCol="false" tIns="0" lIns="0" bIns="0" rIns="0">
            <a:spAutoFit/>
          </a:bodyPr>
          <a:lstStyle/>
          <a:p>
            <a:pPr algn="ctr">
              <a:lnSpc>
                <a:spcPts val="8437"/>
              </a:lnSpc>
            </a:pPr>
            <a:r>
              <a:rPr lang="en-US" sz="6749" b="true">
                <a:solidFill>
                  <a:srgbClr val="1A2D7A"/>
                </a:solidFill>
                <a:latin typeface="Alexandria Bold"/>
                <a:ea typeface="Alexandria Bold"/>
                <a:cs typeface="Alexandria Bold"/>
                <a:sym typeface="Alexandria Bold"/>
              </a:rPr>
              <a:t>Bibliography</a:t>
            </a:r>
          </a:p>
        </p:txBody>
      </p:sp>
      <p:sp>
        <p:nvSpPr>
          <p:cNvPr name="TextBox 8" id="8"/>
          <p:cNvSpPr txBox="true"/>
          <p:nvPr/>
        </p:nvSpPr>
        <p:spPr>
          <a:xfrm rot="0">
            <a:off x="947886" y="3131195"/>
            <a:ext cx="7907090" cy="853380"/>
          </a:xfrm>
          <a:prstGeom prst="rect">
            <a:avLst/>
          </a:prstGeom>
        </p:spPr>
        <p:txBody>
          <a:bodyPr anchor="t" rtlCol="false" tIns="0" lIns="0" bIns="0" rIns="0">
            <a:spAutoFit/>
          </a:bodyPr>
          <a:lstStyle/>
          <a:p>
            <a:pPr algn="l" marL="273348" indent="-136674" lvl="1">
              <a:lnSpc>
                <a:spcPts val="2937"/>
              </a:lnSpc>
              <a:buFont typeface="Arial"/>
              <a:buChar char="•"/>
            </a:pPr>
            <a:r>
              <a:rPr lang="en-US" sz="1812">
                <a:solidFill>
                  <a:srgbClr val="3B3535"/>
                </a:solidFill>
                <a:latin typeface="Arimo"/>
                <a:ea typeface="Arimo"/>
                <a:cs typeface="Arimo"/>
                <a:sym typeface="Arimo"/>
              </a:rPr>
              <a:t>Researched Datasets from Kaggle:</a:t>
            </a:r>
            <a:r>
              <a:rPr lang="en-US" sz="1812" u="sng">
                <a:solidFill>
                  <a:srgbClr val="1A2D7A"/>
                </a:solidFill>
                <a:latin typeface="Arimo"/>
                <a:ea typeface="Arimo"/>
                <a:cs typeface="Arimo"/>
                <a:sym typeface="Arimo"/>
                <a:hlinkClick r:id="rId3" tooltip="https://www.kaggle.com/datasets/irfanasrullah/groceries"/>
              </a:rPr>
              <a:t>https://www.kaggle.com/datasets/irfanasrullah/groceries</a:t>
            </a:r>
          </a:p>
        </p:txBody>
      </p:sp>
      <p:sp>
        <p:nvSpPr>
          <p:cNvPr name="TextBox 9" id="9"/>
          <p:cNvSpPr txBox="true"/>
          <p:nvPr/>
        </p:nvSpPr>
        <p:spPr>
          <a:xfrm rot="0">
            <a:off x="947886" y="3972222"/>
            <a:ext cx="7907090" cy="853380"/>
          </a:xfrm>
          <a:prstGeom prst="rect">
            <a:avLst/>
          </a:prstGeom>
        </p:spPr>
        <p:txBody>
          <a:bodyPr anchor="t" rtlCol="false" tIns="0" lIns="0" bIns="0" rIns="0">
            <a:spAutoFit/>
          </a:bodyPr>
          <a:lstStyle/>
          <a:p>
            <a:pPr algn="l" marL="273348" indent="-136674" lvl="1">
              <a:lnSpc>
                <a:spcPts val="2937"/>
              </a:lnSpc>
              <a:buFont typeface="Arial"/>
              <a:buChar char="•"/>
            </a:pPr>
            <a:r>
              <a:rPr lang="en-US" sz="1812">
                <a:solidFill>
                  <a:srgbClr val="3B3535"/>
                </a:solidFill>
                <a:latin typeface="Arimo"/>
                <a:ea typeface="Arimo"/>
                <a:cs typeface="Arimo"/>
                <a:sym typeface="Arimo"/>
              </a:rPr>
              <a:t>Viewed Documents on Apriori Algorithm and Recommendation Systems from: </a:t>
            </a:r>
          </a:p>
        </p:txBody>
      </p:sp>
      <p:sp>
        <p:nvSpPr>
          <p:cNvPr name="TextBox 10" id="10"/>
          <p:cNvSpPr txBox="true"/>
          <p:nvPr/>
        </p:nvSpPr>
        <p:spPr>
          <a:xfrm rot="0">
            <a:off x="947886" y="4813250"/>
            <a:ext cx="7907090" cy="853380"/>
          </a:xfrm>
          <a:prstGeom prst="rect">
            <a:avLst/>
          </a:prstGeom>
        </p:spPr>
        <p:txBody>
          <a:bodyPr anchor="t" rtlCol="false" tIns="0" lIns="0" bIns="0" rIns="0">
            <a:spAutoFit/>
          </a:bodyPr>
          <a:lstStyle/>
          <a:p>
            <a:pPr algn="l" marL="701973" indent="-233991" lvl="2">
              <a:lnSpc>
                <a:spcPts val="2937"/>
              </a:lnSpc>
              <a:buFont typeface="Arial"/>
              <a:buChar char="⚬"/>
            </a:pPr>
            <a:r>
              <a:rPr lang="en-US" sz="1812" u="sng">
                <a:solidFill>
                  <a:srgbClr val="1A2D7A"/>
                </a:solidFill>
                <a:latin typeface="Arimo"/>
                <a:ea typeface="Arimo"/>
                <a:cs typeface="Arimo"/>
                <a:sym typeface="Arimo"/>
                <a:hlinkClick r:id="rId4" tooltip="https://www.geeksforgeeks.org/machine-learning/apriori-algorithm/"/>
              </a:rPr>
              <a:t>https://www.geeksforgeeks.org/machine-learning/apriori-algorithm/</a:t>
            </a:r>
          </a:p>
        </p:txBody>
      </p:sp>
      <p:sp>
        <p:nvSpPr>
          <p:cNvPr name="TextBox 11" id="11"/>
          <p:cNvSpPr txBox="true"/>
          <p:nvPr/>
        </p:nvSpPr>
        <p:spPr>
          <a:xfrm rot="0">
            <a:off x="947886" y="5654279"/>
            <a:ext cx="7907090" cy="853380"/>
          </a:xfrm>
          <a:prstGeom prst="rect">
            <a:avLst/>
          </a:prstGeom>
        </p:spPr>
        <p:txBody>
          <a:bodyPr anchor="t" rtlCol="false" tIns="0" lIns="0" bIns="0" rIns="0">
            <a:spAutoFit/>
          </a:bodyPr>
          <a:lstStyle/>
          <a:p>
            <a:pPr algn="l" marL="701973" indent="-233991" lvl="2">
              <a:lnSpc>
                <a:spcPts val="2937"/>
              </a:lnSpc>
              <a:buFont typeface="Arial"/>
              <a:buChar char="⚬"/>
            </a:pPr>
            <a:r>
              <a:rPr lang="en-US" sz="1812" u="sng">
                <a:solidFill>
                  <a:srgbClr val="1A2D7A"/>
                </a:solidFill>
                <a:latin typeface="Arimo"/>
                <a:ea typeface="Arimo"/>
                <a:cs typeface="Arimo"/>
                <a:sym typeface="Arimo"/>
                <a:hlinkClick r:id="rId5" tooltip="https://www.geeksforgeeks.org/machine-learning/what-are-recommender-systems/"/>
              </a:rPr>
              <a:t>https://www.geeksforgeeks.org/machine-learning/what-are-recommender-systems/</a:t>
            </a:r>
          </a:p>
        </p:txBody>
      </p:sp>
      <p:grpSp>
        <p:nvGrpSpPr>
          <p:cNvPr name="Group 12" id="12"/>
          <p:cNvGrpSpPr>
            <a:grpSpLocks noChangeAspect="true"/>
          </p:cNvGrpSpPr>
          <p:nvPr/>
        </p:nvGrpSpPr>
        <p:grpSpPr>
          <a:xfrm rot="0">
            <a:off x="9442549" y="3279725"/>
            <a:ext cx="5785098" cy="5785097"/>
            <a:chOff x="0" y="0"/>
            <a:chExt cx="7713463" cy="7713463"/>
          </a:xfrm>
        </p:grpSpPr>
        <p:sp>
          <p:nvSpPr>
            <p:cNvPr name="Freeform 13" id="13" descr="preencoded.png"/>
            <p:cNvSpPr/>
            <p:nvPr/>
          </p:nvSpPr>
          <p:spPr>
            <a:xfrm flipH="false" flipV="false" rot="0">
              <a:off x="0" y="0"/>
              <a:ext cx="7713472" cy="7713472"/>
            </a:xfrm>
            <a:custGeom>
              <a:avLst/>
              <a:gdLst/>
              <a:ahLst/>
              <a:cxnLst/>
              <a:rect r="r" b="b" t="t" l="l"/>
              <a:pathLst>
                <a:path h="7713472" w="7713472">
                  <a:moveTo>
                    <a:pt x="0" y="0"/>
                  </a:moveTo>
                  <a:lnTo>
                    <a:pt x="7713472" y="0"/>
                  </a:lnTo>
                  <a:lnTo>
                    <a:pt x="7713472" y="7713472"/>
                  </a:lnTo>
                  <a:lnTo>
                    <a:pt x="0" y="7713472"/>
                  </a:lnTo>
                  <a:lnTo>
                    <a:pt x="0" y="0"/>
                  </a:lnTo>
                  <a:close/>
                </a:path>
              </a:pathLst>
            </a:custGeom>
            <a:blipFill>
              <a:blip r:embed="rId6"/>
              <a:stretch>
                <a:fillRect l="0" t="0" r="0" b="0"/>
              </a:stretch>
            </a:blipFill>
          </p:spPr>
        </p:sp>
      </p:grpSp>
      <p:sp>
        <p:nvSpPr>
          <p:cNvPr name="Freeform 14" id="14"/>
          <p:cNvSpPr/>
          <p:nvPr/>
        </p:nvSpPr>
        <p:spPr>
          <a:xfrm flipH="false" flipV="false" rot="0">
            <a:off x="14971998" y="0"/>
            <a:ext cx="3316002" cy="734968"/>
          </a:xfrm>
          <a:custGeom>
            <a:avLst/>
            <a:gdLst/>
            <a:ahLst/>
            <a:cxnLst/>
            <a:rect r="r" b="b" t="t" l="l"/>
            <a:pathLst>
              <a:path h="734968" w="3316002">
                <a:moveTo>
                  <a:pt x="0" y="0"/>
                </a:moveTo>
                <a:lnTo>
                  <a:pt x="3316002" y="0"/>
                </a:lnTo>
                <a:lnTo>
                  <a:pt x="3316002" y="734968"/>
                </a:lnTo>
                <a:lnTo>
                  <a:pt x="0" y="734968"/>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DAGxjieSA3o</dc:identifier>
  <dcterms:modified xsi:type="dcterms:W3CDTF">2011-08-01T06:04:30Z</dcterms:modified>
  <cp:revision>1</cp:revision>
  <dc:title>CARTS-Contextual-Awareness-Recommendation-and-Transaction-System (1).pptx</dc:title>
</cp:coreProperties>
</file>